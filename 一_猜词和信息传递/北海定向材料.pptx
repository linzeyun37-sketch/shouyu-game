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5" d="100"/>
          <a:sy n="95" d="100"/>
        </p:scale>
        <p:origin x="-552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75" indent="0" algn="ctr">
              <a:buNone/>
              <a:defRPr sz="2800"/>
            </a:lvl2pPr>
            <a:lvl3pPr marL="1280149" indent="0" algn="ctr">
              <a:buNone/>
              <a:defRPr sz="2520"/>
            </a:lvl3pPr>
            <a:lvl4pPr marL="1920224" indent="0" algn="ctr">
              <a:buNone/>
              <a:defRPr sz="2240"/>
            </a:lvl4pPr>
            <a:lvl5pPr marL="2560297" indent="0" algn="ctr">
              <a:buNone/>
              <a:defRPr sz="2240"/>
            </a:lvl5pPr>
            <a:lvl6pPr marL="3200371" indent="0" algn="ctr">
              <a:buNone/>
              <a:defRPr sz="2240"/>
            </a:lvl6pPr>
            <a:lvl7pPr marL="3840446" indent="0" algn="ctr">
              <a:buNone/>
              <a:defRPr sz="2240"/>
            </a:lvl7pPr>
            <a:lvl8pPr marL="4480521" indent="0" algn="ctr">
              <a:buNone/>
              <a:defRPr sz="2240"/>
            </a:lvl8pPr>
            <a:lvl9pPr marL="5120595" indent="0" algn="ctr">
              <a:buNone/>
              <a:defRPr sz="22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30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0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4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4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75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49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24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297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371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46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21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595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01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1" y="2555875"/>
            <a:ext cx="544068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1" y="2555875"/>
            <a:ext cx="544068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07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9" y="511177"/>
            <a:ext cx="11041380" cy="1855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81" y="2353629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75" indent="0">
              <a:buNone/>
              <a:defRPr sz="2800" b="1"/>
            </a:lvl2pPr>
            <a:lvl3pPr marL="1280149" indent="0">
              <a:buNone/>
              <a:defRPr sz="2520" b="1"/>
            </a:lvl3pPr>
            <a:lvl4pPr marL="1920224" indent="0">
              <a:buNone/>
              <a:defRPr sz="2240" b="1"/>
            </a:lvl4pPr>
            <a:lvl5pPr marL="2560297" indent="0">
              <a:buNone/>
              <a:defRPr sz="2240" b="1"/>
            </a:lvl5pPr>
            <a:lvl6pPr marL="3200371" indent="0">
              <a:buNone/>
              <a:defRPr sz="2240" b="1"/>
            </a:lvl6pPr>
            <a:lvl7pPr marL="3840446" indent="0">
              <a:buNone/>
              <a:defRPr sz="2240" b="1"/>
            </a:lvl7pPr>
            <a:lvl8pPr marL="4480521" indent="0">
              <a:buNone/>
              <a:defRPr sz="2240" b="1"/>
            </a:lvl8pPr>
            <a:lvl9pPr marL="5120595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81" y="3507105"/>
            <a:ext cx="5415676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2" y="2353629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75" indent="0">
              <a:buNone/>
              <a:defRPr sz="2800" b="1"/>
            </a:lvl2pPr>
            <a:lvl3pPr marL="1280149" indent="0">
              <a:buNone/>
              <a:defRPr sz="2520" b="1"/>
            </a:lvl3pPr>
            <a:lvl4pPr marL="1920224" indent="0">
              <a:buNone/>
              <a:defRPr sz="2240" b="1"/>
            </a:lvl4pPr>
            <a:lvl5pPr marL="2560297" indent="0">
              <a:buNone/>
              <a:defRPr sz="2240" b="1"/>
            </a:lvl5pPr>
            <a:lvl6pPr marL="3200371" indent="0">
              <a:buNone/>
              <a:defRPr sz="2240" b="1"/>
            </a:lvl6pPr>
            <a:lvl7pPr marL="3840446" indent="0">
              <a:buNone/>
              <a:defRPr sz="2240" b="1"/>
            </a:lvl7pPr>
            <a:lvl8pPr marL="4480521" indent="0">
              <a:buNone/>
              <a:defRPr sz="2240" b="1"/>
            </a:lvl8pPr>
            <a:lvl9pPr marL="5120595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2" y="3507105"/>
            <a:ext cx="5442347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65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88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20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81" y="640080"/>
            <a:ext cx="4128848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8" y="1382398"/>
            <a:ext cx="6480811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81" y="2880361"/>
            <a:ext cx="4128848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75" indent="0">
              <a:buNone/>
              <a:defRPr sz="1960"/>
            </a:lvl2pPr>
            <a:lvl3pPr marL="1280149" indent="0">
              <a:buNone/>
              <a:defRPr sz="1680"/>
            </a:lvl3pPr>
            <a:lvl4pPr marL="1920224" indent="0">
              <a:buNone/>
              <a:defRPr sz="1400"/>
            </a:lvl4pPr>
            <a:lvl5pPr marL="2560297" indent="0">
              <a:buNone/>
              <a:defRPr sz="1400"/>
            </a:lvl5pPr>
            <a:lvl6pPr marL="3200371" indent="0">
              <a:buNone/>
              <a:defRPr sz="1400"/>
            </a:lvl6pPr>
            <a:lvl7pPr marL="3840446" indent="0">
              <a:buNone/>
              <a:defRPr sz="1400"/>
            </a:lvl7pPr>
            <a:lvl8pPr marL="4480521" indent="0">
              <a:buNone/>
              <a:defRPr sz="1400"/>
            </a:lvl8pPr>
            <a:lvl9pPr marL="5120595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45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81" y="640080"/>
            <a:ext cx="4128848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8" y="1382398"/>
            <a:ext cx="6480811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75" indent="0">
              <a:buNone/>
              <a:defRPr sz="3920"/>
            </a:lvl2pPr>
            <a:lvl3pPr marL="1280149" indent="0">
              <a:buNone/>
              <a:defRPr sz="3360"/>
            </a:lvl3pPr>
            <a:lvl4pPr marL="1920224" indent="0">
              <a:buNone/>
              <a:defRPr sz="2800"/>
            </a:lvl4pPr>
            <a:lvl5pPr marL="2560297" indent="0">
              <a:buNone/>
              <a:defRPr sz="2800"/>
            </a:lvl5pPr>
            <a:lvl6pPr marL="3200371" indent="0">
              <a:buNone/>
              <a:defRPr sz="2800"/>
            </a:lvl6pPr>
            <a:lvl7pPr marL="3840446" indent="0">
              <a:buNone/>
              <a:defRPr sz="2800"/>
            </a:lvl7pPr>
            <a:lvl8pPr marL="4480521" indent="0">
              <a:buNone/>
              <a:defRPr sz="2800"/>
            </a:lvl8pPr>
            <a:lvl9pPr marL="5120595" indent="0">
              <a:buNone/>
              <a:defRPr sz="2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81" y="2880361"/>
            <a:ext cx="4128848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75" indent="0">
              <a:buNone/>
              <a:defRPr sz="1960"/>
            </a:lvl2pPr>
            <a:lvl3pPr marL="1280149" indent="0">
              <a:buNone/>
              <a:defRPr sz="1680"/>
            </a:lvl3pPr>
            <a:lvl4pPr marL="1920224" indent="0">
              <a:buNone/>
              <a:defRPr sz="1400"/>
            </a:lvl4pPr>
            <a:lvl5pPr marL="2560297" indent="0">
              <a:buNone/>
              <a:defRPr sz="1400"/>
            </a:lvl5pPr>
            <a:lvl6pPr marL="3200371" indent="0">
              <a:buNone/>
              <a:defRPr sz="1400"/>
            </a:lvl6pPr>
            <a:lvl7pPr marL="3840446" indent="0">
              <a:buNone/>
              <a:defRPr sz="1400"/>
            </a:lvl7pPr>
            <a:lvl8pPr marL="4480521" indent="0">
              <a:buNone/>
              <a:defRPr sz="1400"/>
            </a:lvl8pPr>
            <a:lvl9pPr marL="5120595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79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8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6"/>
            <a:ext cx="2760345" cy="81365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6"/>
            <a:ext cx="8121015" cy="81365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79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2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2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1" y="8898893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338BF-FA82-4823-A87B-635ACF0048E3}" type="datetimeFigureOut">
              <a:rPr lang="zh-CN" altLang="en-US" smtClean="0"/>
              <a:t>2024/3/30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2" y="8898893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1" y="8898893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F3F66-AC00-4477-8270-E4367FDF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29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49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36" indent="-320036" algn="l" defTabSz="1280149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11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186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60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35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10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484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557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32" indent="-320036" algn="l" defTabSz="1280149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75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49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24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297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371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46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21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595" algn="l" defTabSz="1280149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9C26D01-3F83-4A1C-AF0A-15C7ADC20A74}"/>
              </a:ext>
            </a:extLst>
          </p:cNvPr>
          <p:cNvSpPr txBox="1"/>
          <p:nvPr/>
        </p:nvSpPr>
        <p:spPr>
          <a:xfrm>
            <a:off x="6400800" y="129905"/>
            <a:ext cx="6155139" cy="618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99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活动前必读：</a:t>
            </a:r>
            <a:endParaRPr lang="en-US" altLang="zh-CN" sz="1799" dirty="0">
              <a:latin typeface="仓耳周珂正大榜书" panose="02020400000000000000" pitchFamily="18" charset="-122"/>
              <a:ea typeface="仓耳周珂正大榜书" panose="02020400000000000000" pitchFamily="18" charset="-122"/>
            </a:endParaRPr>
          </a:p>
          <a:p>
            <a:pPr marL="342898" indent="-342898">
              <a:buAutoNum type="arabicPeriod"/>
            </a:pP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小组内不要分头行动。园内游人众多或有拥挤，部分水体周围无护栏，琼华岛等处山路狭窄陡峭，一定要注意安全！出现各种情况，在活动群内保持联系。如出现安全应急情况，拨打</a:t>
            </a:r>
            <a:r>
              <a:rPr lang="zh-CN" altLang="en-US" sz="1799" u="sng" kern="100" dirty="0"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北海公园派出所电话</a:t>
            </a:r>
            <a:r>
              <a:rPr lang="en-US" altLang="zh-CN" sz="1799" u="sng" kern="100" dirty="0"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010-64042279</a:t>
            </a:r>
            <a:r>
              <a:rPr lang="zh-CN" altLang="en-US" sz="1799" u="sng" kern="100" dirty="0"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（或直拨</a:t>
            </a:r>
            <a:r>
              <a:rPr lang="en-US" altLang="zh-CN" sz="1799" u="sng" kern="100" dirty="0"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110</a:t>
            </a:r>
            <a:r>
              <a:rPr lang="zh-CN" altLang="en-US" sz="1799" u="sng" kern="100" dirty="0"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。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  <a:p>
            <a:pPr marL="342898" indent="-342898">
              <a:buFontTx/>
              <a:buAutoNum type="arabicPeriod"/>
            </a:pP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关于路线：北海沿湖人行道并不是一个环线，南岸西门至南门一段不通。如果想走完一个环湖，可以先从南门出园，向西门的工作人员说明情况，再从西门入园</a:t>
            </a:r>
            <a:r>
              <a:rPr lang="zh-CN" altLang="en-US" sz="1799" kern="100" dirty="0"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（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东岸路线</a:t>
            </a:r>
            <a:r>
              <a:rPr lang="zh-CN" altLang="en-US" sz="1799" kern="100" dirty="0"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；或者先从西门出园、再从南门入园</a:t>
            </a:r>
            <a:r>
              <a:rPr lang="zh-CN" altLang="en-US" sz="1799" kern="100" dirty="0"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（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西岸路线</a:t>
            </a:r>
            <a:r>
              <a:rPr lang="zh-CN" altLang="en-US" sz="1799" kern="100" dirty="0"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。也可以采取以下避开二次入园的环线：北岸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从五龙亭渡口摆渡至琼华岛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从陟山桥或永安桥出岛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沿东岸向北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北岸；或者反过来：北岸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从先蚕坛沿东岸南行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上岛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从琼华岛渡口摆渡至五龙亭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北岸。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  <a:p>
            <a:pPr marL="342898" indent="-342898">
              <a:buAutoNum type="arabicPeriod"/>
            </a:pP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活动中间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【16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：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10】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将在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【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琼华岛永安寺门前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】</a:t>
            </a:r>
            <a:r>
              <a:rPr lang="zh-CN" altLang="en-US" sz="1799" kern="100" dirty="0"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（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参照地图标注</a:t>
            </a:r>
            <a:r>
              <a:rPr lang="zh-CN" altLang="en-US" sz="1799" kern="100" dirty="0"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进行一次集中，请各小组在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【16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：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20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前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】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到达集合点。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16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：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20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后将从永安寺出发继续活动。活动结束后不进行再次集中，由个人自行决定活动后的行程。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  <a:p>
            <a:pPr marL="342898" indent="-342898">
              <a:buAutoNum type="arabicPeriod"/>
            </a:pP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园内有多处码头，有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4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人、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6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人、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8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人等规格小艇出租；琼岛有直渡五龙亭的摆渡船，小组内可自行决定进行划船、乘渡等活动。水面风大，船只体量小，一定要注意水上安全！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  <a:p>
            <a:pPr marL="342898" indent="-342898">
              <a:buAutoNum type="arabicPeriod"/>
            </a:pP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园内沿途有多处公厕和商店；蚕坛饭庄、北海餐厅、仿膳饭庄、庆丰包子铺等饭店可用餐。可以根据园内标识或在高德地图上找到这些地方。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009EC9-BD4F-445B-8BE5-977D32D9893A}"/>
              </a:ext>
            </a:extLst>
          </p:cNvPr>
          <p:cNvSpPr txBox="1"/>
          <p:nvPr/>
        </p:nvSpPr>
        <p:spPr>
          <a:xfrm>
            <a:off x="6400800" y="6298106"/>
            <a:ext cx="6155139" cy="313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99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定向须知</a:t>
            </a:r>
            <a:r>
              <a:rPr lang="zh-CN" altLang="en-US" sz="1799" dirty="0"/>
              <a:t>：</a:t>
            </a:r>
            <a:endParaRPr lang="en-US" altLang="zh-CN" sz="1799" dirty="0"/>
          </a:p>
          <a:p>
            <a:pPr marL="342898" indent="-342898">
              <a:buFontTx/>
              <a:buAutoNum type="arabicPeriod"/>
            </a:pP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不知自己身处何处？找不到景点？高德地图等地图工具将是您的好帮手。可以用手机备忘录记下任务题的答案。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  <a:p>
            <a:pPr marL="342898" indent="-342898">
              <a:buFontTx/>
              <a:buAutoNum type="arabicPeriod"/>
            </a:pP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休息期间可以做个游戏。</a:t>
            </a:r>
            <a:r>
              <a:rPr lang="zh-CN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游戏不一定要在手册设计的游戏点完成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，</a:t>
            </a:r>
            <a:r>
              <a:rPr lang="zh-CN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在任意地点完成任意游戏，都可获得相应分数。</a:t>
            </a:r>
          </a:p>
          <a:p>
            <a:pPr marL="342898" indent="-342898">
              <a:buFontTx/>
              <a:buAutoNum type="arabicPeriod"/>
            </a:pPr>
            <a:r>
              <a:rPr lang="zh-CN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完成主线任务时顺便完成支线任务，可以获得相应加分。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敏锐的眼光才能发现细节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记得擦亮双眼。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  <a:p>
            <a:pPr marL="342898" indent="-342898">
              <a:buAutoNum type="arabicPeriod"/>
            </a:pPr>
            <a:r>
              <a:rPr lang="zh-CN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定向手册设计的任务很多，但你不用走遍全部任务点，也不用完成所有的任务。选择想要探索的路线，完成一部分任务就好。不用太在意得分，累了就停下来休息，和身边的同学多多交流，注意欣赏身边的风景。</a:t>
            </a:r>
            <a:r>
              <a:rPr lang="en-US" altLang="zh-CN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——</a:t>
            </a:r>
            <a:r>
              <a:rPr lang="zh-CN" altLang="en-US" sz="1799" kern="100" dirty="0">
                <a:latin typeface="翩翩体-简" panose="03000500000000000000" pitchFamily="66" charset="-122"/>
                <a:ea typeface="翩翩体-简" panose="03000500000000000000" pitchFamily="66" charset="-122"/>
                <a:cs typeface="Arial" panose="020B0604020202020204" pitchFamily="34" charset="0"/>
              </a:rPr>
              <a:t>重要的是玩得开心！</a:t>
            </a:r>
            <a:endParaRPr lang="en-US" altLang="zh-CN" sz="1799" kern="100" dirty="0">
              <a:latin typeface="翩翩体-简" panose="03000500000000000000" pitchFamily="66" charset="-122"/>
              <a:ea typeface="翩翩体-简" panose="03000500000000000000" pitchFamily="66" charset="-122"/>
              <a:cs typeface="Arial" panose="020B0604020202020204" pitchFamily="34" charset="0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36879C76-CA75-43D8-ABD0-EF178EFA5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540018" y="4603155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CAD0028-4E7D-47F7-94AF-E8F8033BF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2" y="197893"/>
            <a:ext cx="5866259" cy="920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星形: 五角 6">
            <a:extLst>
              <a:ext uri="{FF2B5EF4-FFF2-40B4-BE49-F238E27FC236}">
                <a16:creationId xmlns:a16="http://schemas.microsoft.com/office/drawing/2014/main" id="{16065C78-3617-40B2-9AF4-AFF6E9D923C4}"/>
              </a:ext>
            </a:extLst>
          </p:cNvPr>
          <p:cNvSpPr/>
          <p:nvPr/>
        </p:nvSpPr>
        <p:spPr>
          <a:xfrm>
            <a:off x="3998793" y="352484"/>
            <a:ext cx="368489" cy="423082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1AD51498-4E17-481A-8A98-E0352A9FAF36}"/>
              </a:ext>
            </a:extLst>
          </p:cNvPr>
          <p:cNvSpPr/>
          <p:nvPr/>
        </p:nvSpPr>
        <p:spPr>
          <a:xfrm>
            <a:off x="3043450" y="7547213"/>
            <a:ext cx="354840" cy="423080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BC4366-9D49-4458-9364-C67AC63D1D77}"/>
              </a:ext>
            </a:extLst>
          </p:cNvPr>
          <p:cNvSpPr txBox="1"/>
          <p:nvPr/>
        </p:nvSpPr>
        <p:spPr>
          <a:xfrm>
            <a:off x="245660" y="313898"/>
            <a:ext cx="1678673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99" dirty="0">
                <a:solidFill>
                  <a:srgbClr val="FF0000"/>
                </a:solidFill>
              </a:rPr>
              <a:t>红星</a:t>
            </a:r>
            <a:r>
              <a:rPr lang="zh-CN" altLang="en-US" sz="1799" dirty="0"/>
              <a:t>为活动前集中处（西北门入园）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B8CA80-5CE6-4052-B06C-006DB747292C}"/>
              </a:ext>
            </a:extLst>
          </p:cNvPr>
          <p:cNvSpPr txBox="1"/>
          <p:nvPr/>
        </p:nvSpPr>
        <p:spPr>
          <a:xfrm>
            <a:off x="329818" y="7758753"/>
            <a:ext cx="1910686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99" dirty="0">
                <a:solidFill>
                  <a:srgbClr val="FF0000"/>
                </a:solidFill>
              </a:rPr>
              <a:t>黄星</a:t>
            </a:r>
            <a:r>
              <a:rPr lang="zh-CN" altLang="en-US" sz="1799" dirty="0"/>
              <a:t>为活动中集合处（永安寺前）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AEEA48E-C964-42BB-9F4C-028C66B221AA}"/>
              </a:ext>
            </a:extLst>
          </p:cNvPr>
          <p:cNvSpPr/>
          <p:nvPr/>
        </p:nvSpPr>
        <p:spPr>
          <a:xfrm>
            <a:off x="4496934" y="6197485"/>
            <a:ext cx="368489" cy="3275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5A09B259-E85D-4DBE-80F1-5CA2C97EF04C}"/>
              </a:ext>
            </a:extLst>
          </p:cNvPr>
          <p:cNvSpPr/>
          <p:nvPr/>
        </p:nvSpPr>
        <p:spPr>
          <a:xfrm>
            <a:off x="1419368" y="8980227"/>
            <a:ext cx="286602" cy="3070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799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783A6F3-B1F8-4D27-9322-ED6550F36738}"/>
              </a:ext>
            </a:extLst>
          </p:cNvPr>
          <p:cNvSpPr/>
          <p:nvPr/>
        </p:nvSpPr>
        <p:spPr>
          <a:xfrm>
            <a:off x="3562066" y="8980227"/>
            <a:ext cx="286602" cy="3070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E575725B-2E70-46A1-9B86-0F8E32BE2D0A}"/>
              </a:ext>
            </a:extLst>
          </p:cNvPr>
          <p:cNvSpPr/>
          <p:nvPr/>
        </p:nvSpPr>
        <p:spPr>
          <a:xfrm>
            <a:off x="4940489" y="197894"/>
            <a:ext cx="368489" cy="42308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DDA0F5-34DD-4B40-94FA-25EE34093934}"/>
              </a:ext>
            </a:extLst>
          </p:cNvPr>
          <p:cNvSpPr txBox="1"/>
          <p:nvPr/>
        </p:nvSpPr>
        <p:spPr>
          <a:xfrm>
            <a:off x="4542261" y="5884146"/>
            <a:ext cx="1569660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799" dirty="0"/>
              <a:t>箭头为出口处</a:t>
            </a:r>
          </a:p>
        </p:txBody>
      </p:sp>
    </p:spTree>
    <p:extLst>
      <p:ext uri="{BB962C8B-B14F-4D97-AF65-F5344CB8AC3E}">
        <p14:creationId xmlns:p14="http://schemas.microsoft.com/office/powerpoint/2010/main" val="337176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9CB44C1-466C-4D6A-920E-B64183B1825A}"/>
              </a:ext>
            </a:extLst>
          </p:cNvPr>
          <p:cNvSpPr txBox="1"/>
          <p:nvPr/>
        </p:nvSpPr>
        <p:spPr>
          <a:xfrm>
            <a:off x="143427" y="285014"/>
            <a:ext cx="6038194" cy="320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1" b="1" dirty="0">
                <a:latin typeface="IPix" panose="02000503000000000000" pitchFamily="2" charset="-120"/>
                <a:ea typeface="IPix" panose="02000503000000000000" pitchFamily="2" charset="-120"/>
              </a:rPr>
              <a:t>第一个任务：破冰</a:t>
            </a:r>
            <a:r>
              <a:rPr lang="zh-CN" altLang="en-US" sz="2401" dirty="0">
                <a:latin typeface="IPix" panose="02000503000000000000" pitchFamily="2" charset="-120"/>
                <a:ea typeface="IPix" panose="02000503000000000000" pitchFamily="2" charset="-120"/>
              </a:rPr>
              <a:t>！</a:t>
            </a:r>
            <a:endParaRPr lang="en-US" altLang="zh-CN" sz="2401" dirty="0">
              <a:latin typeface="IPix" panose="02000503000000000000" pitchFamily="2" charset="-120"/>
              <a:ea typeface="IPix" panose="02000503000000000000" pitchFamily="2" charset="-120"/>
            </a:endParaRPr>
          </a:p>
          <a:p>
            <a:pPr>
              <a:lnSpc>
                <a:spcPct val="120000"/>
              </a:lnSpc>
            </a:pPr>
            <a:r>
              <a:rPr lang="zh-CN" altLang="en-US" sz="2401" b="1" dirty="0">
                <a:latin typeface="IPix" panose="02000503000000000000" pitchFamily="2" charset="-120"/>
                <a:ea typeface="IPix" panose="02000503000000000000" pitchFamily="2" charset="-120"/>
              </a:rPr>
              <a:t>游戏一：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四位同学以如下图方式站立，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B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和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C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背对背靠立。同学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B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和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C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先分别向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A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和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D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用手语介绍自己的姓名、年级、专业、家乡；介绍完毕后，同学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A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向对面的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D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转达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B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的自我介绍信息，然后再由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D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向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A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转达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C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的信息；最后，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B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和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C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分别根据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A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、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D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转达的信息，复述靠在自己背后的同学的姓名、年级、专业、家乡。每组双方都转述成功则小组加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10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分；全部同学都任务成功一次再加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20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分。</a:t>
            </a:r>
            <a:endParaRPr lang="en-US" altLang="zh-CN" sz="1799" dirty="0">
              <a:latin typeface="IPix" panose="02000503000000000000" pitchFamily="2" charset="-120"/>
              <a:ea typeface="IPix" panose="02000503000000000000" pitchFamily="2" charset="-120"/>
            </a:endParaRPr>
          </a:p>
          <a:p>
            <a:pPr algn="r">
              <a:lnSpc>
                <a:spcPct val="120000"/>
              </a:lnSpc>
            </a:pP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——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破冰完成，进入</a:t>
            </a:r>
            <a:r>
              <a:rPr lang="zh-CN" altLang="en-US" sz="1799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主线任务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！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E9375B2-638E-4811-8B36-ECBF2DDE9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5" b="94245" l="10000" r="90000">
                        <a14:foregroundMark x1="49000" y1="89158" x2="61125" y2="90409"/>
                        <a14:foregroundMark x1="61125" y1="90409" x2="51750" y2="94912"/>
                        <a14:foregroundMark x1="51750" y1="94912" x2="41875" y2="96831"/>
                        <a14:foregroundMark x1="41875" y1="96831" x2="40000" y2="91326"/>
                        <a14:foregroundMark x1="40000" y1="91326" x2="48250" y2="89658"/>
                        <a14:foregroundMark x1="42125" y1="94078" x2="50250" y2="95580"/>
                        <a14:foregroundMark x1="50250" y1="95580" x2="57625" y2="93745"/>
                        <a14:foregroundMark x1="57625" y1="93745" x2="50250" y2="93161"/>
                        <a14:foregroundMark x1="50250" y1="93161" x2="42375" y2="942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707" y="3581953"/>
            <a:ext cx="1111469" cy="166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09F31C3-2848-4D99-9EB2-D621B2AA8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467" b="98400" l="10000" r="90000">
                        <a14:foregroundMark x1="47400" y1="20933" x2="37600" y2="15600"/>
                        <a14:foregroundMark x1="37600" y1="15600" x2="35200" y2="7200"/>
                        <a14:foregroundMark x1="35200" y1="7200" x2="47800" y2="5467"/>
                        <a14:foregroundMark x1="47800" y1="5467" x2="52600" y2="12667"/>
                        <a14:foregroundMark x1="52600" y1="12667" x2="46400" y2="21200"/>
                        <a14:foregroundMark x1="30800" y1="88667" x2="41000" y2="89200"/>
                        <a14:foregroundMark x1="41000" y1="89200" x2="49800" y2="94800"/>
                        <a14:foregroundMark x1="49800" y1="94800" x2="41800" y2="99600"/>
                        <a14:foregroundMark x1="41800" y1="99600" x2="31000" y2="98400"/>
                        <a14:foregroundMark x1="31000" y1="98400" x2="30200" y2="885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097" y="3535184"/>
            <a:ext cx="1111469" cy="166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1C0C0755-9DCA-4EA2-B1A9-0357C4648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3939" l="10000" r="90000">
                        <a14:foregroundMark x1="51860" y1="90303" x2="51628" y2="89697"/>
                        <a14:foregroundMark x1="58140" y1="21970" x2="46279" y2="16818"/>
                        <a14:foregroundMark x1="46279" y1="16818" x2="58837" y2="20303"/>
                        <a14:foregroundMark x1="58837" y1="20303" x2="59302" y2="21818"/>
                        <a14:foregroundMark x1="51163" y1="91212" x2="51628" y2="91818"/>
                        <a14:foregroundMark x1="48837" y1="93939" x2="48837" y2="939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19403" y="3441641"/>
            <a:ext cx="1207287" cy="185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DC2E4B70-375B-4025-B22E-F22540F8F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883" b="93139" l="10000" r="90000">
                        <a14:foregroundMark x1="61200" y1="10803" x2="48000" y2="8175"/>
                        <a14:foregroundMark x1="48000" y1="8175" x2="62600" y2="8029"/>
                        <a14:foregroundMark x1="62600" y1="8029" x2="61600" y2="9781"/>
                        <a14:foregroundMark x1="62600" y1="89051" x2="63000" y2="89781"/>
                        <a14:foregroundMark x1="59600" y1="93139" x2="58000" y2="921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404" y="3581952"/>
            <a:ext cx="1336024" cy="175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F98FC35-8FDB-4029-9E5F-75DBC437E11C}"/>
              </a:ext>
            </a:extLst>
          </p:cNvPr>
          <p:cNvSpPr/>
          <p:nvPr/>
        </p:nvSpPr>
        <p:spPr>
          <a:xfrm>
            <a:off x="1552397" y="3675665"/>
            <a:ext cx="292708" cy="461793"/>
          </a:xfrm>
          <a:prstGeom prst="rect">
            <a:avLst/>
          </a:prstGeom>
          <a:noFill/>
        </p:spPr>
        <p:txBody>
          <a:bodyPr wrap="square" lIns="91441" tIns="45720" rIns="91441" bIns="45720">
            <a:spAutoFit/>
          </a:bodyPr>
          <a:lstStyle/>
          <a:p>
            <a:pPr algn="ctr"/>
            <a:r>
              <a:rPr lang="en-US" altLang="zh-CN" sz="240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zh-CN" altLang="en-US" sz="240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2C9C61-538D-45BE-8FD8-DF0269B88EB6}"/>
              </a:ext>
            </a:extLst>
          </p:cNvPr>
          <p:cNvSpPr/>
          <p:nvPr/>
        </p:nvSpPr>
        <p:spPr>
          <a:xfrm>
            <a:off x="2554180" y="3717316"/>
            <a:ext cx="351378" cy="461793"/>
          </a:xfrm>
          <a:prstGeom prst="rect">
            <a:avLst/>
          </a:prstGeom>
          <a:noFill/>
        </p:spPr>
        <p:txBody>
          <a:bodyPr wrap="square" lIns="91441" tIns="45720" rIns="91441" bIns="45720">
            <a:spAutoFit/>
          </a:bodyPr>
          <a:lstStyle/>
          <a:p>
            <a:pPr algn="ctr"/>
            <a:r>
              <a:rPr lang="en-US" altLang="zh-CN" sz="240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zh-CN" altLang="en-US" sz="240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933984-C672-4F8B-AAD1-1AE6BABFFD33}"/>
              </a:ext>
            </a:extLst>
          </p:cNvPr>
          <p:cNvSpPr/>
          <p:nvPr/>
        </p:nvSpPr>
        <p:spPr>
          <a:xfrm>
            <a:off x="3624228" y="3675665"/>
            <a:ext cx="348174" cy="461793"/>
          </a:xfrm>
          <a:prstGeom prst="rect">
            <a:avLst/>
          </a:prstGeom>
          <a:noFill/>
        </p:spPr>
        <p:txBody>
          <a:bodyPr wrap="none" lIns="91441" tIns="45720" rIns="91441" bIns="45720">
            <a:spAutoFit/>
          </a:bodyPr>
          <a:lstStyle/>
          <a:p>
            <a:pPr algn="ctr"/>
            <a:r>
              <a:rPr lang="en-US" altLang="zh-CN" sz="240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zh-CN" altLang="en-US" sz="240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4CF175-77E8-40D7-A6E6-EB4B0D7F2E5F}"/>
              </a:ext>
            </a:extLst>
          </p:cNvPr>
          <p:cNvSpPr/>
          <p:nvPr/>
        </p:nvSpPr>
        <p:spPr>
          <a:xfrm>
            <a:off x="4031241" y="3722906"/>
            <a:ext cx="542015" cy="461793"/>
          </a:xfrm>
          <a:prstGeom prst="rect">
            <a:avLst/>
          </a:prstGeom>
          <a:noFill/>
        </p:spPr>
        <p:txBody>
          <a:bodyPr wrap="square" lIns="91441" tIns="45720" rIns="91441" bIns="45720">
            <a:spAutoFit/>
          </a:bodyPr>
          <a:lstStyle/>
          <a:p>
            <a:pPr algn="ctr"/>
            <a:r>
              <a:rPr lang="en-US" altLang="zh-CN" sz="240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endParaRPr lang="zh-CN" altLang="en-US" sz="240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B3038F-CA6D-4C4C-9B3F-33756FFB7160}"/>
              </a:ext>
            </a:extLst>
          </p:cNvPr>
          <p:cNvSpPr txBox="1"/>
          <p:nvPr/>
        </p:nvSpPr>
        <p:spPr>
          <a:xfrm>
            <a:off x="143427" y="5642405"/>
            <a:ext cx="3879588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1" b="1" dirty="0">
                <a:latin typeface="IPix" panose="02000503000000000000" pitchFamily="2" charset="-120"/>
                <a:ea typeface="IPix" panose="02000503000000000000" pitchFamily="2" charset="-120"/>
              </a:rPr>
              <a:t>驻足休息时，做个游戏吧！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2C95ED-57B1-44FD-B061-8EFA3FA4BC87}"/>
              </a:ext>
            </a:extLst>
          </p:cNvPr>
          <p:cNvSpPr txBox="1"/>
          <p:nvPr/>
        </p:nvSpPr>
        <p:spPr>
          <a:xfrm>
            <a:off x="143428" y="6388678"/>
            <a:ext cx="6038193" cy="3008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1" b="1" dirty="0">
                <a:latin typeface="IPix" panose="02000503000000000000" pitchFamily="2" charset="-120"/>
                <a:ea typeface="IPix" panose="02000503000000000000" pitchFamily="2" charset="-120"/>
              </a:rPr>
              <a:t>游戏二：你划我猜</a:t>
            </a:r>
            <a:endParaRPr lang="en-US" altLang="zh-CN" sz="2401" b="1" dirty="0">
              <a:latin typeface="IPix" panose="02000503000000000000" pitchFamily="2" charset="-120"/>
              <a:ea typeface="IPix" panose="02000503000000000000" pitchFamily="2" charset="-120"/>
            </a:endParaRPr>
          </a:p>
          <a:p>
            <a:pPr>
              <a:lnSpc>
                <a:spcPct val="130000"/>
              </a:lnSpc>
            </a:pP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	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小组长将词语逐一展示给（或将词表交给）联大同学，联大同学看完后通过手语或比划将词语描述给分社同学，分社同学猜测，猜不出可选择跳过。一轮共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5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分钟，完成一轮加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6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分，其中每正确猜出一个加</a:t>
            </a: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1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分。</a:t>
            </a:r>
            <a:endParaRPr lang="en-US" altLang="zh-CN" sz="1799" dirty="0">
              <a:latin typeface="IPix" panose="02000503000000000000" pitchFamily="2" charset="-120"/>
              <a:ea typeface="IPix" panose="02000503000000000000" pitchFamily="2" charset="-120"/>
            </a:endParaRPr>
          </a:p>
          <a:p>
            <a:pPr>
              <a:lnSpc>
                <a:spcPct val="130000"/>
              </a:lnSpc>
            </a:pPr>
            <a:r>
              <a:rPr lang="en-US" altLang="zh-CN" sz="1799" dirty="0">
                <a:latin typeface="IPix" panose="02000503000000000000" pitchFamily="2" charset="-120"/>
                <a:ea typeface="IPix" panose="02000503000000000000" pitchFamily="2" charset="-120"/>
              </a:rPr>
              <a:t>	</a:t>
            </a:r>
            <a:r>
              <a:rPr lang="zh-CN" altLang="en-US" sz="1799" dirty="0">
                <a:latin typeface="IPix" panose="02000503000000000000" pitchFamily="2" charset="-120"/>
                <a:ea typeface="IPix" panose="02000503000000000000" pitchFamily="2" charset="-120"/>
              </a:rPr>
              <a:t>只可通过手势动作和表演，不可出声，否则视为猜错跳过，到下一个词。</a:t>
            </a:r>
            <a:endParaRPr lang="en-US" altLang="zh-CN" sz="1799" dirty="0">
              <a:latin typeface="IPix" panose="02000503000000000000" pitchFamily="2" charset="-120"/>
              <a:ea typeface="IPix" panose="02000503000000000000" pitchFamily="2" charset="-120"/>
            </a:endParaRPr>
          </a:p>
          <a:p>
            <a:endParaRPr lang="zh-CN" altLang="en-US" sz="1799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E5D4B5-CA33-46AC-84CA-96D73EBEEC2A}"/>
              </a:ext>
            </a:extLst>
          </p:cNvPr>
          <p:cNvSpPr txBox="1"/>
          <p:nvPr/>
        </p:nvSpPr>
        <p:spPr>
          <a:xfrm>
            <a:off x="6619981" y="285014"/>
            <a:ext cx="5849007" cy="8943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这里是支线任务</a:t>
            </a:r>
            <a:r>
              <a:rPr lang="en-US" altLang="zh-CN" sz="2200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——</a:t>
            </a:r>
          </a:p>
          <a:p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支线任务：博物学导论</a:t>
            </a:r>
            <a:endParaRPr lang="en-US" altLang="zh-CN" sz="2000" dirty="0">
              <a:latin typeface="仓耳周珂正大榜书" panose="02020400000000000000" pitchFamily="18" charset="-122"/>
              <a:ea typeface="仓耳周珂正大榜书" panose="02020400000000000000" pitchFamily="18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——</a:t>
            </a:r>
            <a:r>
              <a:rPr lang="zh-CN" altLang="en-US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分类学入门</a:t>
            </a:r>
            <a:endParaRPr lang="en-US" altLang="zh-CN" dirty="0">
              <a:latin typeface="仓耳周珂正大榜书" panose="02020400000000000000" pitchFamily="18" charset="-122"/>
              <a:ea typeface="仓耳周珂正大榜书" panose="02020400000000000000" pitchFamily="18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（累积得分）请找到：（单瓣）桃花、碧桃花、榆叶梅、梨花、李花、杏花、毛樱桃、海棠花植株并进行准确识别，每找到一种并准确辨别加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分，每准确识别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种再加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分；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分）请区分连翘和迎春花，并对两者的区别进行至少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30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字的文字描述以消息形式发在大群。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（累积得分）请找到至少两种不同品种的木兰（玉兰）并准确识别品种名，找到两种加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分，此后每找到一种再加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（累积得分）请识别油松、白皮松、雪松、圆柏、侧柏、龙柏，准确识别三种得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分，此后每再识别一种加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分）北京常见的三种喜鹊有</a:t>
            </a:r>
            <a:r>
              <a:rPr lang="zh-CN" altLang="en-US" b="1" u="sng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               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分）请找到园内至少三种颜色的锦鲤。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（累积得分）每拍摄园内一种水禽，加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分；如雌、雄两性个体性状有明显差异，则雌、雄各算一种。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>
              <a:lnSpc>
                <a:spcPct val="110000"/>
              </a:lnSpc>
            </a:pP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——</a:t>
            </a:r>
            <a:r>
              <a:rPr lang="zh-CN" altLang="en-US" dirty="0">
                <a:latin typeface="仓耳周珂正大榜书" panose="02020400000000000000" pitchFamily="18" charset="-122"/>
                <a:ea typeface="仓耳周珂正大榜书" panose="02020400000000000000" pitchFamily="18" charset="-122"/>
              </a:rPr>
              <a:t>文物探识</a:t>
            </a:r>
            <a:endParaRPr lang="en-US" altLang="zh-CN" dirty="0">
              <a:latin typeface="仓耳周珂正大榜书" panose="02020400000000000000" pitchFamily="18" charset="-122"/>
              <a:ea typeface="仓耳周珂正大榜书" panose="02020400000000000000" pitchFamily="18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分）找到园内至少三处“乾隆御笔”。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（累积得分）寻找并识别以下“瑞兽”：狮子、獬豸、押鱼、凤凰、仙人骑鸡、螭吻、麒麟、鳌、仙鹤等，每识别一种加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分，每准确识别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种再加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分。若有未在列的也可计分。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15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分）在园内任意角度尝试拍摄到故宫角楼。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（</a:t>
            </a:r>
            <a:r>
              <a:rPr lang="en-US" altLang="zh-CN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10</a:t>
            </a:r>
            <a:r>
              <a:rPr lang="zh-CN" altLang="en-US" b="1" dirty="0">
                <a:latin typeface="于洪亮钢笔楷书简体（正式版）" panose="02000603000000000000" pitchFamily="2" charset="-122"/>
                <a:ea typeface="于洪亮钢笔楷书简体（正式版）" panose="02000603000000000000" pitchFamily="2" charset="-122"/>
              </a:rPr>
              <a:t>分）在园内任意角度尝试拍摄到景山公园的五方亭。</a:t>
            </a:r>
            <a:endParaRPr lang="en-US" altLang="zh-CN" b="1" dirty="0">
              <a:latin typeface="于洪亮钢笔楷书简体（正式版）" panose="02000603000000000000" pitchFamily="2" charset="-122"/>
              <a:ea typeface="于洪亮钢笔楷书简体（正式版）" panose="02000603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0332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1156</Words>
  <Application>Microsoft Office PowerPoint</Application>
  <PresentationFormat>A3 纸张(297x420 毫米)</PresentationFormat>
  <Paragraphs>42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IPix</vt:lpstr>
      <vt:lpstr>仓耳周珂正大榜书</vt:lpstr>
      <vt:lpstr>方正粗黑宋简体</vt:lpstr>
      <vt:lpstr>方正姚体</vt:lpstr>
      <vt:lpstr>仿宋</vt:lpstr>
      <vt:lpstr>翩翩体-简</vt:lpstr>
      <vt:lpstr>于洪亮钢笔楷书简体（正式版）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Lillian &amp; Vivienne！</dc:creator>
  <cp:lastModifiedBy>Lillian &amp; Vivienne！</cp:lastModifiedBy>
  <cp:revision>31</cp:revision>
  <dcterms:created xsi:type="dcterms:W3CDTF">2024-03-28T11:39:17Z</dcterms:created>
  <dcterms:modified xsi:type="dcterms:W3CDTF">2024-03-30T13:22:18Z</dcterms:modified>
</cp:coreProperties>
</file>