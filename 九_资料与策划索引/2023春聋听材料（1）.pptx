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9" r:id="rId3"/>
    <p:sldId id="258" r:id="rId4"/>
    <p:sldId id="257"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E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6" d="100"/>
          <a:sy n="96" d="100"/>
        </p:scale>
        <p:origin x="8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2023/3/26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2023/3/26</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jpe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04679" y="226913"/>
            <a:ext cx="8101489" cy="830997"/>
          </a:xfrm>
          <a:prstGeom prst="rect">
            <a:avLst/>
          </a:prstGeom>
          <a:noFill/>
        </p:spPr>
        <p:txBody>
          <a:bodyPr wrap="square" rtlCol="0">
            <a:spAutoFit/>
          </a:bodyPr>
          <a:lstStyle/>
          <a:p>
            <a:pPr algn="ctr"/>
            <a:r>
              <a:rPr lang="en-US" altLang="zh-CN" sz="2400" b="1" dirty="0">
                <a:latin typeface="华光中雅_CNKI" panose="02000500000000000000" pitchFamily="2" charset="-122"/>
                <a:ea typeface="华光中雅_CNKI" panose="02000500000000000000" pitchFamily="2" charset="-122"/>
                <a:cs typeface="苏新诗柳楷简" panose="02010600000101010101" charset="-122"/>
              </a:rPr>
              <a:t>2023.3.26 </a:t>
            </a:r>
            <a:r>
              <a:rPr lang="zh-CN" altLang="en-US" sz="2400" b="1" dirty="0">
                <a:latin typeface="华光中雅_CNKI" panose="02000500000000000000" pitchFamily="2" charset="-122"/>
                <a:ea typeface="华光中雅_CNKI" panose="02000500000000000000" pitchFamily="2" charset="-122"/>
                <a:cs typeface="苏新诗柳楷简" panose="02010600000101010101" charset="-122"/>
              </a:rPr>
              <a:t>北京大学学生爱心社手语分社与</a:t>
            </a:r>
            <a:endParaRPr lang="en-US" altLang="zh-CN" sz="2400" b="1" dirty="0">
              <a:latin typeface="华光中雅_CNKI" panose="02000500000000000000" pitchFamily="2" charset="-122"/>
              <a:ea typeface="华光中雅_CNKI" panose="02000500000000000000" pitchFamily="2" charset="-122"/>
              <a:cs typeface="苏新诗柳楷简" panose="02010600000101010101" charset="-122"/>
            </a:endParaRPr>
          </a:p>
          <a:p>
            <a:pPr algn="ctr"/>
            <a:r>
              <a:rPr lang="zh-CN" altLang="en-US" sz="2400" b="1" dirty="0">
                <a:latin typeface="华光中雅_CNKI" panose="02000500000000000000" pitchFamily="2" charset="-122"/>
                <a:ea typeface="华光中雅_CNKI" panose="02000500000000000000" pitchFamily="2" charset="-122"/>
                <a:cs typeface="苏新诗柳楷简" panose="02010600000101010101" charset="-122"/>
              </a:rPr>
              <a:t>北京联合大学特殊教育学院交流活动</a:t>
            </a:r>
            <a:endParaRPr lang="en-US" altLang="zh-CN" sz="2400" b="1" dirty="0">
              <a:latin typeface="华光中雅_CNKI" panose="02000500000000000000" pitchFamily="2" charset="-122"/>
              <a:ea typeface="华光中雅_CNKI" panose="02000500000000000000" pitchFamily="2" charset="-122"/>
              <a:cs typeface="苏新诗柳楷简" panose="02010600000101010101" charset="-122"/>
            </a:endParaRPr>
          </a:p>
        </p:txBody>
      </p:sp>
      <p:sp>
        <p:nvSpPr>
          <p:cNvPr id="2" name="文本框 1"/>
          <p:cNvSpPr txBox="1"/>
          <p:nvPr/>
        </p:nvSpPr>
        <p:spPr>
          <a:xfrm>
            <a:off x="184785" y="1173163"/>
            <a:ext cx="8773478" cy="3170099"/>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latin typeface="翩翩体-简" panose="03000500000000000000" pitchFamily="66" charset="-122"/>
                <a:ea typeface="翩翩体-简" panose="03000500000000000000" pitchFamily="66" charset="-122"/>
                <a:cs typeface="苏新诗柳楷简" panose="02010600000101010101" charset="-122"/>
              </a:rPr>
              <a:t>越野过程中禁止使用交通工具，请务必注意安全。请服从组长和两校社团负责人的安排，</a:t>
            </a:r>
            <a:r>
              <a:rPr lang="zh-CN" altLang="en-US" sz="2000" b="1" u="sng" dirty="0">
                <a:latin typeface="翩翩体-简" panose="03000500000000000000" pitchFamily="66" charset="-122"/>
                <a:ea typeface="翩翩体-简" panose="03000500000000000000" pitchFamily="66" charset="-122"/>
                <a:cs typeface="苏新诗柳楷简" panose="02010600000101010101" charset="-122"/>
              </a:rPr>
              <a:t>禁止脱离队伍单独行动</a:t>
            </a:r>
            <a:r>
              <a:rPr lang="zh-CN" altLang="en-US" sz="2000" dirty="0">
                <a:latin typeface="翩翩体-简" panose="03000500000000000000" pitchFamily="66" charset="-122"/>
                <a:ea typeface="翩翩体-简" panose="03000500000000000000" pitchFamily="66" charset="-122"/>
                <a:cs typeface="苏新诗柳楷简" panose="02010600000101010101" charset="-122"/>
              </a:rPr>
              <a:t>。</a:t>
            </a:r>
            <a:r>
              <a:rPr lang="zh-CN" altLang="en-US" sz="2000" b="1" u="sng" dirty="0">
                <a:latin typeface="翩翩体-简" panose="03000500000000000000" pitchFamily="66" charset="-122"/>
                <a:ea typeface="翩翩体-简" panose="03000500000000000000" pitchFamily="66" charset="-122"/>
                <a:cs typeface="苏新诗柳楷简" panose="02010600000101010101" charset="-122"/>
              </a:rPr>
              <a:t>如果遇到紧急情况，请及时与小组长或负责人联系</a:t>
            </a:r>
            <a:r>
              <a:rPr lang="zh-CN" altLang="en-US" sz="2000" b="1" dirty="0">
                <a:latin typeface="翩翩体-简" panose="03000500000000000000" pitchFamily="66" charset="-122"/>
                <a:ea typeface="翩翩体-简" panose="03000500000000000000" pitchFamily="66" charset="-122"/>
                <a:cs typeface="苏新诗柳楷简" panose="02010600000101010101" charset="-122"/>
              </a:rPr>
              <a:t>。</a:t>
            </a:r>
            <a:endParaRPr lang="zh-CN" altLang="en-US" sz="2000" dirty="0">
              <a:latin typeface="翩翩体-简" panose="03000500000000000000" pitchFamily="66" charset="-122"/>
              <a:ea typeface="翩翩体-简" panose="03000500000000000000" pitchFamily="66" charset="-122"/>
              <a:cs typeface="苏新诗柳楷简" panose="02010600000101010101" charset="-122"/>
            </a:endParaRPr>
          </a:p>
          <a:p>
            <a:pPr marL="285750" indent="-285750">
              <a:buFont typeface="Arial" panose="020B0604020202020204" pitchFamily="34" charset="0"/>
              <a:buChar char="•"/>
            </a:pP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本次活动从教室出发，到静园结束计时，后随小组长回到原来的教室算分、颁奖。</a:t>
            </a:r>
            <a:endParaRPr lang="en-US" altLang="zh-CN" sz="2000" dirty="0">
              <a:latin typeface="翩翩体-简" panose="03000500000000000000" pitchFamily="66" charset="-122"/>
              <a:ea typeface="翩翩体-简" panose="03000500000000000000" pitchFamily="66" charset="-122"/>
              <a:cs typeface="苏新诗柳楷简" panose="02010600000101010101" charset="-122"/>
              <a:sym typeface="+mn-ea"/>
            </a:endParaRPr>
          </a:p>
          <a:p>
            <a:pPr marL="285750" indent="-285750">
              <a:buFont typeface="Arial" panose="020B0604020202020204" pitchFamily="34" charset="0"/>
              <a:buChar char="•"/>
            </a:pP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本次活动将采取</a:t>
            </a:r>
            <a:r>
              <a:rPr lang="zh-CN" altLang="en-US" sz="2000" b="1" dirty="0">
                <a:latin typeface="翩翩体-简" panose="03000500000000000000" pitchFamily="66" charset="-122"/>
                <a:ea typeface="翩翩体-简" panose="03000500000000000000" pitchFamily="66" charset="-122"/>
                <a:cs typeface="苏新诗柳楷简" panose="02010600000101010101" charset="-122"/>
                <a:sym typeface="+mn-ea"/>
              </a:rPr>
              <a:t>分数制</a:t>
            </a: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，完成合影任务和游戏皆可以获得相应分数，此外还有额外的加分项，但如果超时抵达会按超过的时间扣分。</a:t>
            </a:r>
            <a:endParaRPr lang="en-US" altLang="zh-CN" sz="2000" dirty="0">
              <a:latin typeface="翩翩体-简" panose="03000500000000000000" pitchFamily="66" charset="-122"/>
              <a:ea typeface="翩翩体-简" panose="03000500000000000000" pitchFamily="66" charset="-122"/>
              <a:cs typeface="苏新诗柳楷简" panose="02010600000101010101" charset="-122"/>
              <a:sym typeface="+mn-ea"/>
            </a:endParaRPr>
          </a:p>
          <a:p>
            <a:pPr marL="285750" indent="-285750">
              <a:buFont typeface="Arial" panose="020B0604020202020204" pitchFamily="34" charset="0"/>
              <a:buChar char="•"/>
            </a:pP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遇到别的队伍时，请各自行动，尽量避免一起行动，以免造成人员聚集。任务点有别的队伍时可以先去周围的任务点或完成支线任务。</a:t>
            </a:r>
            <a:endParaRPr lang="en-US" altLang="zh-CN" sz="2000" dirty="0">
              <a:latin typeface="翩翩体-简" panose="03000500000000000000" pitchFamily="66" charset="-122"/>
              <a:ea typeface="翩翩体-简" panose="03000500000000000000" pitchFamily="66" charset="-122"/>
              <a:cs typeface="苏新诗柳楷简" panose="02010600000101010101" charset="-122"/>
              <a:sym typeface="+mn-ea"/>
            </a:endParaRPr>
          </a:p>
          <a:p>
            <a:pPr marL="285750" indent="-285750">
              <a:buFont typeface="Arial" panose="020B0604020202020204" pitchFamily="34" charset="0"/>
              <a:buChar char="•"/>
            </a:pP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所有组别都有奖品，而且不同名次奖品差别不是很大，本次活动请大家以交流、踏青、游玩为主，定向得分只是帮助大家游玩的形式。由于设置的任务点和游戏点较多，并不需要每个都去到，所以大家不用太赶时间，</a:t>
            </a:r>
            <a:r>
              <a:rPr lang="zh-CN" altLang="en-US" sz="2000" b="1" u="sng" dirty="0">
                <a:latin typeface="翩翩体-简" panose="03000500000000000000" pitchFamily="66" charset="-122"/>
                <a:ea typeface="翩翩体-简" panose="03000500000000000000" pitchFamily="66" charset="-122"/>
                <a:cs typeface="苏新诗柳楷简" panose="02010600000101010101" charset="-122"/>
                <a:sym typeface="+mn-ea"/>
              </a:rPr>
              <a:t>最重要的是玩得开心</a:t>
            </a:r>
            <a:r>
              <a:rPr lang="zh-CN" altLang="en-US" sz="2000" dirty="0">
                <a:latin typeface="翩翩体-简" panose="03000500000000000000" pitchFamily="66" charset="-122"/>
                <a:ea typeface="翩翩体-简" panose="03000500000000000000" pitchFamily="66" charset="-122"/>
                <a:cs typeface="苏新诗柳楷简" panose="02010600000101010101" charset="-122"/>
                <a:sym typeface="+mn-ea"/>
              </a:rPr>
              <a:t>！</a:t>
            </a:r>
            <a:endParaRPr lang="en-US" altLang="zh-CN" sz="2000" dirty="0">
              <a:latin typeface="翩翩体-简" panose="03000500000000000000" pitchFamily="66" charset="-122"/>
              <a:ea typeface="翩翩体-简" panose="03000500000000000000" pitchFamily="66" charset="-122"/>
              <a:cs typeface="苏新诗柳楷简" panose="02010600000101010101" charset="-122"/>
              <a:sym typeface="+mn-ea"/>
            </a:endParaRPr>
          </a:p>
        </p:txBody>
      </p:sp>
      <p:pic>
        <p:nvPicPr>
          <p:cNvPr id="3" name="图片 2" descr="手小语"/>
          <p:cNvPicPr>
            <a:picLocks noChangeAspect="1"/>
          </p:cNvPicPr>
          <p:nvPr/>
        </p:nvPicPr>
        <p:blipFill>
          <a:blip r:embed="rId3"/>
          <a:srcRect t="2897" r="10270"/>
          <a:stretch>
            <a:fillRect/>
          </a:stretch>
        </p:blipFill>
        <p:spPr>
          <a:xfrm flipH="1">
            <a:off x="307975" y="199231"/>
            <a:ext cx="782955" cy="858679"/>
          </a:xfrm>
          <a:prstGeom prst="rect">
            <a:avLst/>
          </a:prstGeom>
        </p:spPr>
      </p:pic>
      <p:sp>
        <p:nvSpPr>
          <p:cNvPr id="4" name="文本框 3"/>
          <p:cNvSpPr txBox="1"/>
          <p:nvPr/>
        </p:nvSpPr>
        <p:spPr>
          <a:xfrm>
            <a:off x="184785" y="4291985"/>
            <a:ext cx="8773795" cy="2339102"/>
          </a:xfrm>
          <a:prstGeom prst="rect">
            <a:avLst/>
          </a:prstGeom>
          <a:noFill/>
          <a:ln>
            <a:solidFill>
              <a:schemeClr val="tx1"/>
            </a:solidFill>
            <a:prstDash val="dash"/>
          </a:ln>
        </p:spPr>
        <p:txBody>
          <a:bodyPr wrap="square" rtlCol="0">
            <a:spAutoFit/>
          </a:bodyPr>
          <a:lstStyle/>
          <a:p>
            <a:pPr indent="0">
              <a:buFont typeface="Arial" panose="020B0604020202020204" pitchFamily="34" charset="0"/>
              <a:buNone/>
            </a:pPr>
            <a:r>
              <a:rPr lang="zh-CN" altLang="en-US" sz="2000" b="1" dirty="0">
                <a:latin typeface="苏新诗柳楷简" panose="02010600000101010101" charset="-122"/>
                <a:ea typeface="苏新诗柳楷简" panose="02010600000101010101" charset="-122"/>
                <a:cs typeface="苏新诗柳楷简" panose="02010600000101010101" charset="-122"/>
                <a:sym typeface="+mn-ea"/>
              </a:rPr>
              <a:t>流程：</a:t>
            </a:r>
            <a:endParaRPr lang="zh-CN" altLang="en-US" b="1" dirty="0">
              <a:latin typeface="苏新诗柳楷简" panose="02010600000101010101" charset="-122"/>
              <a:ea typeface="苏新诗柳楷简" panose="02010600000101010101" charset="-122"/>
              <a:cs typeface="苏新诗柳楷简" panose="02010600000101010101" charset="-122"/>
              <a:sym typeface="+mn-ea"/>
            </a:endParaRPr>
          </a:p>
          <a:p>
            <a:pPr indent="0">
              <a:buNone/>
            </a:pPr>
            <a:r>
              <a:rPr lang="en-US" altLang="zh-CN" dirty="0">
                <a:latin typeface="苏新诗柳楷简" panose="02010600000101010101" charset="-122"/>
                <a:ea typeface="苏新诗柳楷简" panose="02010600000101010101" charset="-122"/>
                <a:cs typeface="苏新诗柳楷简" panose="02010600000101010101" charset="-122"/>
                <a:sym typeface="+mn-ea"/>
              </a:rPr>
              <a:t>1</a:t>
            </a:r>
            <a:r>
              <a:rPr lang="zh-CN" altLang="en-US" dirty="0">
                <a:latin typeface="苏新诗柳楷简" panose="02010600000101010101" charset="-122"/>
                <a:ea typeface="苏新诗柳楷简" panose="02010600000101010101" charset="-122"/>
                <a:cs typeface="苏新诗柳楷简" panose="02010600000101010101" charset="-122"/>
                <a:sym typeface="+mn-ea"/>
              </a:rPr>
              <a:t>、14:</a:t>
            </a:r>
            <a:r>
              <a:rPr lang="en-US" altLang="zh-CN" dirty="0">
                <a:latin typeface="苏新诗柳楷简" panose="02010600000101010101" charset="-122"/>
                <a:ea typeface="苏新诗柳楷简" panose="02010600000101010101" charset="-122"/>
                <a:cs typeface="苏新诗柳楷简" panose="02010600000101010101" charset="-122"/>
                <a:sym typeface="+mn-ea"/>
              </a:rPr>
              <a:t>00</a:t>
            </a:r>
            <a:r>
              <a:rPr lang="zh-CN" altLang="en-US" dirty="0">
                <a:latin typeface="苏新诗柳楷简" panose="02010600000101010101" charset="-122"/>
                <a:ea typeface="苏新诗柳楷简" panose="02010600000101010101" charset="-122"/>
                <a:cs typeface="苏新诗柳楷简" panose="02010600000101010101" charset="-122"/>
                <a:sym typeface="+mn-ea"/>
              </a:rPr>
              <a:t>到达教室，领材料、签到，并按照所分小组聚集。</a:t>
            </a:r>
            <a:r>
              <a:rPr lang="zh-CN" altLang="en-US" b="1" dirty="0">
                <a:latin typeface="苏新诗柳楷简" panose="02010600000101010101" charset="-122"/>
                <a:ea typeface="苏新诗柳楷简" panose="02010600000101010101" charset="-122"/>
                <a:cs typeface="苏新诗柳楷简" panose="02010600000101010101" charset="-122"/>
                <a:sym typeface="+mn-ea"/>
              </a:rPr>
              <a:t>分组方式：将会提前在微信群中通知分组名单，现场小组长将会比出组号以方便组员寻找。</a:t>
            </a:r>
            <a:endParaRPr lang="zh-CN" altLang="en-US" dirty="0">
              <a:latin typeface="苏新诗柳楷简" panose="02010600000101010101" charset="-122"/>
              <a:ea typeface="苏新诗柳楷简" panose="02010600000101010101" charset="-122"/>
              <a:cs typeface="苏新诗柳楷简" panose="02010600000101010101" charset="-122"/>
              <a:sym typeface="+mn-ea"/>
            </a:endParaRPr>
          </a:p>
          <a:p>
            <a:pPr indent="0">
              <a:buNone/>
            </a:pPr>
            <a:r>
              <a:rPr lang="en-US" altLang="zh-CN" dirty="0">
                <a:latin typeface="苏新诗柳楷简" panose="02010600000101010101" charset="-122"/>
                <a:ea typeface="苏新诗柳楷简" panose="02010600000101010101" charset="-122"/>
                <a:cs typeface="苏新诗柳楷简" panose="02010600000101010101" charset="-122"/>
                <a:sym typeface="+mn-ea"/>
              </a:rPr>
              <a:t>2</a:t>
            </a:r>
            <a:r>
              <a:rPr lang="zh-CN" altLang="en-US" dirty="0">
                <a:latin typeface="苏新诗柳楷简" panose="02010600000101010101" charset="-122"/>
                <a:ea typeface="苏新诗柳楷简" panose="02010600000101010101" charset="-122"/>
                <a:cs typeface="苏新诗柳楷简" panose="02010600000101010101" charset="-122"/>
                <a:sym typeface="+mn-ea"/>
              </a:rPr>
              <a:t>、分好组后各小组长带领组员，先找地方进行自我介绍和破冰游戏，然后开始定向。</a:t>
            </a:r>
            <a:endParaRPr lang="en-US" altLang="zh-CN" dirty="0">
              <a:latin typeface="苏新诗柳楷简" panose="02010600000101010101" charset="-122"/>
              <a:ea typeface="苏新诗柳楷简" panose="02010600000101010101" charset="-122"/>
              <a:cs typeface="苏新诗柳楷简" panose="02010600000101010101" charset="-122"/>
              <a:sym typeface="+mn-ea"/>
            </a:endParaRPr>
          </a:p>
          <a:p>
            <a:pPr indent="0">
              <a:buNone/>
            </a:pPr>
            <a:r>
              <a:rPr lang="en-US" altLang="zh-CN" dirty="0">
                <a:latin typeface="苏新诗柳楷简" panose="02010600000101010101" charset="-122"/>
                <a:ea typeface="苏新诗柳楷简" panose="02010600000101010101" charset="-122"/>
                <a:cs typeface="苏新诗柳楷简" panose="02010600000101010101" charset="-122"/>
                <a:sym typeface="+mn-ea"/>
              </a:rPr>
              <a:t>3</a:t>
            </a:r>
            <a:r>
              <a:rPr lang="zh-CN" altLang="en-US" dirty="0">
                <a:latin typeface="苏新诗柳楷简" panose="02010600000101010101" charset="-122"/>
                <a:ea typeface="苏新诗柳楷简" panose="02010600000101010101" charset="-122"/>
                <a:cs typeface="苏新诗柳楷简" panose="02010600000101010101" charset="-122"/>
                <a:sym typeface="+mn-ea"/>
              </a:rPr>
              <a:t>、16:</a:t>
            </a:r>
            <a:r>
              <a:rPr lang="en-US" altLang="zh-CN" dirty="0">
                <a:latin typeface="苏新诗柳楷简" panose="02010600000101010101" charset="-122"/>
                <a:ea typeface="苏新诗柳楷简" panose="02010600000101010101" charset="-122"/>
                <a:cs typeface="苏新诗柳楷简" panose="02010600000101010101" charset="-122"/>
                <a:sym typeface="+mn-ea"/>
              </a:rPr>
              <a:t>2</a:t>
            </a:r>
            <a:r>
              <a:rPr lang="zh-CN" altLang="en-US" dirty="0">
                <a:latin typeface="苏新诗柳楷简" panose="02010600000101010101" charset="-122"/>
                <a:ea typeface="苏新诗柳楷简" panose="02010600000101010101" charset="-122"/>
                <a:cs typeface="苏新诗柳楷简" panose="02010600000101010101" charset="-122"/>
                <a:sym typeface="+mn-ea"/>
              </a:rPr>
              <a:t>0左右回到静园草坪结束定向，然后如有需要可以由小组长带领前往北大纪念品商店购买纪念品后再回到教室，否则直接返回教室。</a:t>
            </a:r>
            <a:endParaRPr lang="en-US" altLang="zh-CN" dirty="0">
              <a:latin typeface="苏新诗柳楷简" panose="02010600000101010101" charset="-122"/>
              <a:ea typeface="苏新诗柳楷简" panose="02010600000101010101" charset="-122"/>
              <a:cs typeface="苏新诗柳楷简" panose="02010600000101010101" charset="-122"/>
              <a:sym typeface="+mn-ea"/>
            </a:endParaRPr>
          </a:p>
          <a:p>
            <a:pPr indent="0">
              <a:buNone/>
            </a:pPr>
            <a:r>
              <a:rPr lang="en-US" altLang="zh-CN" dirty="0">
                <a:latin typeface="苏新诗柳楷简" panose="02010600000101010101" charset="-122"/>
                <a:ea typeface="苏新诗柳楷简" panose="02010600000101010101" charset="-122"/>
                <a:cs typeface="苏新诗柳楷简" panose="02010600000101010101" charset="-122"/>
                <a:sym typeface="+mn-ea"/>
              </a:rPr>
              <a:t>4</a:t>
            </a:r>
            <a:r>
              <a:rPr lang="zh-CN" altLang="en-US" dirty="0">
                <a:latin typeface="苏新诗柳楷简" panose="02010600000101010101" charset="-122"/>
                <a:ea typeface="苏新诗柳楷简" panose="02010600000101010101" charset="-122"/>
                <a:cs typeface="苏新诗柳楷简" panose="02010600000101010101" charset="-122"/>
                <a:sym typeface="+mn-ea"/>
              </a:rPr>
              <a:t>、统计各小组得分情况、颁发奖品、活动结束并合影留念。</a:t>
            </a:r>
          </a:p>
          <a:p>
            <a:pPr indent="0">
              <a:buNone/>
            </a:pPr>
            <a:r>
              <a:rPr lang="en-US" altLang="zh-CN" dirty="0">
                <a:latin typeface="苏新诗柳楷简" panose="02010600000101010101" charset="-122"/>
                <a:ea typeface="苏新诗柳楷简" panose="02010600000101010101" charset="-122"/>
                <a:cs typeface="苏新诗柳楷简" panose="02010600000101010101" charset="-122"/>
                <a:sym typeface="+mn-ea"/>
              </a:rPr>
              <a:t>5</a:t>
            </a:r>
            <a:r>
              <a:rPr lang="zh-CN" altLang="en-US" dirty="0">
                <a:latin typeface="苏新诗柳楷简" panose="02010600000101010101" charset="-122"/>
                <a:ea typeface="苏新诗柳楷简" panose="02010600000101010101" charset="-122"/>
                <a:cs typeface="苏新诗柳楷简" panose="02010600000101010101" charset="-122"/>
                <a:sym typeface="+mn-ea"/>
              </a:rPr>
              <a:t>、结束后老人们将联大同学送往北大东门地铁站</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0170" y="109220"/>
            <a:ext cx="2867025" cy="4770537"/>
          </a:xfrm>
          <a:prstGeom prst="rect">
            <a:avLst/>
          </a:prstGeom>
          <a:noFill/>
          <a:ln>
            <a:solidFill>
              <a:schemeClr val="tx1"/>
            </a:solidFill>
            <a:prstDash val="dash"/>
          </a:ln>
        </p:spPr>
        <p:txBody>
          <a:bodyPr wrap="square" rtlCol="0">
            <a:spAutoFit/>
          </a:bodyPr>
          <a:lstStyle/>
          <a:p>
            <a:r>
              <a:rPr lang="zh-CN" altLang="en-US" sz="2000" b="1" dirty="0">
                <a:ln cap="rnd">
                  <a:noFill/>
                  <a:prstDash val="dot"/>
                </a:ln>
                <a:latin typeface="苏新诗柳楷简" panose="02010600000101010101" charset="-122"/>
                <a:ea typeface="苏新诗柳楷简" panose="02010600000101010101" charset="-122"/>
                <a:cs typeface="苏新诗柳楷简" panose="02010600000101010101" charset="-122"/>
              </a:rPr>
              <a:t>任务点：（</a:t>
            </a:r>
            <a:r>
              <a:rPr lang="en-US" altLang="zh-CN" sz="2000" b="1" dirty="0">
                <a:ln cap="rnd">
                  <a:noFill/>
                  <a:prstDash val="dot"/>
                </a:ln>
                <a:latin typeface="苏新诗柳楷简" panose="02010600000101010101" charset="-122"/>
                <a:ea typeface="苏新诗柳楷简" panose="02010600000101010101" charset="-122"/>
                <a:cs typeface="苏新诗柳楷简" panose="02010600000101010101" charset="-122"/>
              </a:rPr>
              <a:t>11</a:t>
            </a:r>
            <a:r>
              <a:rPr lang="zh-CN" altLang="en-US" sz="2000" b="1" dirty="0">
                <a:ln cap="rnd">
                  <a:noFill/>
                  <a:prstDash val="dot"/>
                </a:ln>
                <a:latin typeface="苏新诗柳楷简" panose="02010600000101010101" charset="-122"/>
                <a:ea typeface="苏新诗柳楷简" panose="02010600000101010101" charset="-122"/>
                <a:cs typeface="苏新诗柳楷简" panose="02010600000101010101" charset="-122"/>
              </a:rPr>
              <a:t>处）</a:t>
            </a:r>
            <a:endParaRPr lang="zh-CN" altLang="en-US" sz="1400" b="1" dirty="0">
              <a:ln cap="rnd">
                <a:noFill/>
                <a:prstDash val="dot"/>
              </a:ln>
              <a:latin typeface="苏新诗柳楷简" panose="02010600000101010101" charset="-122"/>
              <a:ea typeface="苏新诗柳楷简" panose="02010600000101010101" charset="-122"/>
              <a:cs typeface="苏新诗柳楷简" panose="02010600000101010101" charset="-122"/>
            </a:endParaRPr>
          </a:p>
          <a:p>
            <a:r>
              <a:rPr lang="zh-CN" altLang="en-US" sz="1400" b="1" dirty="0">
                <a:ln cap="rnd">
                  <a:noFill/>
                  <a:prstDash val="dot"/>
                </a:ln>
                <a:latin typeface="苏新诗柳楷简" panose="02010600000101010101" charset="-122"/>
                <a:ea typeface="苏新诗柳楷简" panose="02010600000101010101" charset="-122"/>
                <a:cs typeface="苏新诗柳楷简" panose="02010600000101010101" charset="-122"/>
              </a:rPr>
              <a:t>找到指定地点并打出指定词语的手语合影（每拍一个基础分10分）</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蔡元培像——“北大”</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博雅塔——“博雅塔”</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凯原楼——“法学院”</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花神庙——“未名湖”</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李兆基学苑——“中文系</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科维理所</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——5</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个天体相关词汇（如行星、</a:t>
            </a:r>
            <a:r>
              <a:rPr lang="zh-CN" altLang="en-US" sz="1600">
                <a:ln cap="rnd">
                  <a:noFill/>
                  <a:prstDash val="dot"/>
                </a:ln>
                <a:latin typeface="苏新诗柳楷简" panose="02010600000101010101" charset="-122"/>
                <a:ea typeface="苏新诗柳楷简" panose="02010600000101010101" charset="-122"/>
                <a:cs typeface="苏新诗柳楷简" panose="02010600000101010101" charset="-122"/>
              </a:rPr>
              <a:t>太阳），</a:t>
            </a:r>
            <a:r>
              <a:rPr lang="zh-CN" altLang="en-US" sz="1600" b="1">
                <a:ln cap="rnd">
                  <a:noFill/>
                  <a:prstDash val="dot"/>
                </a:ln>
                <a:latin typeface="苏新诗柳楷简" panose="02010600000101010101" charset="-122"/>
                <a:ea typeface="苏新诗柳楷简" panose="02010600000101010101" charset="-122"/>
                <a:cs typeface="苏新诗柳楷简" panose="02010600000101010101" charset="-122"/>
              </a:rPr>
              <a:t>基础</a:t>
            </a:r>
            <a:r>
              <a:rPr lang="en-US" altLang="zh-CN" sz="1600" b="1" dirty="0">
                <a:ln cap="rnd">
                  <a:noFill/>
                  <a:prstDash val="dot"/>
                </a:ln>
                <a:latin typeface="苏新诗柳楷简" panose="02010600000101010101" charset="-122"/>
                <a:ea typeface="苏新诗柳楷简" panose="02010600000101010101" charset="-122"/>
                <a:cs typeface="苏新诗柳楷简" panose="02010600000101010101" charset="-122"/>
              </a:rPr>
              <a:t>20</a:t>
            </a:r>
            <a:r>
              <a:rPr lang="zh-CN" altLang="en-US" sz="1600" b="1" dirty="0">
                <a:ln cap="rnd">
                  <a:noFill/>
                  <a:prstDash val="dot"/>
                </a:ln>
                <a:latin typeface="苏新诗柳楷简" panose="02010600000101010101" charset="-122"/>
                <a:ea typeface="苏新诗柳楷简" panose="02010600000101010101" charset="-122"/>
                <a:cs typeface="苏新诗柳楷简" panose="02010600000101010101" charset="-122"/>
              </a:rPr>
              <a:t>分</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，多一个加</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5</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分</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全斋</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“数学”</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校景亭</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“红湖”</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赛克勒</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“考古</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艺术”</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阿卜杜勒</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阿齐兹国王图书馆</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“阿卜杜勒</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阿齐兹”</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图书馆</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“图书馆”</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华表</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？（由组长揭秘）</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a:p>
            <a:pPr marL="342900" indent="-342900">
              <a:buFont typeface="Wingdings" panose="05000000000000000000" charset="0"/>
              <a:buChar char="Ø"/>
            </a:pP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静园草坪</a:t>
            </a:r>
            <a:r>
              <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rPr>
              <a:t>——</a:t>
            </a:r>
            <a:r>
              <a:rPr lang="zh-CN" altLang="en-US" sz="1600" dirty="0">
                <a:ln cap="rnd">
                  <a:noFill/>
                  <a:prstDash val="dot"/>
                </a:ln>
                <a:latin typeface="苏新诗柳楷简" panose="02010600000101010101" charset="-122"/>
                <a:ea typeface="苏新诗柳楷简" panose="02010600000101010101" charset="-122"/>
                <a:cs typeface="苏新诗柳楷简" panose="02010600000101010101" charset="-122"/>
              </a:rPr>
              <a:t>“静园草坪”</a:t>
            </a:r>
            <a:endParaRPr lang="en-US" altLang="zh-CN" sz="1600" dirty="0">
              <a:ln cap="rnd">
                <a:noFill/>
                <a:prstDash val="dot"/>
              </a:ln>
              <a:latin typeface="苏新诗柳楷简" panose="02010600000101010101" charset="-122"/>
              <a:ea typeface="苏新诗柳楷简" panose="02010600000101010101" charset="-122"/>
              <a:cs typeface="苏新诗柳楷简" panose="02010600000101010101" charset="-122"/>
            </a:endParaRPr>
          </a:p>
        </p:txBody>
      </p:sp>
      <p:sp>
        <p:nvSpPr>
          <p:cNvPr id="11" name="文本框 10"/>
          <p:cNvSpPr txBox="1"/>
          <p:nvPr/>
        </p:nvSpPr>
        <p:spPr>
          <a:xfrm>
            <a:off x="89535" y="4932898"/>
            <a:ext cx="2867660" cy="1815882"/>
          </a:xfrm>
          <a:prstGeom prst="rect">
            <a:avLst/>
          </a:prstGeom>
          <a:noFill/>
          <a:ln>
            <a:solidFill>
              <a:schemeClr val="tx1"/>
            </a:solidFill>
            <a:prstDash val="dash"/>
          </a:ln>
        </p:spPr>
        <p:txBody>
          <a:bodyPr wrap="square" rtlCol="0">
            <a:spAutoFit/>
          </a:bodyPr>
          <a:lstStyle/>
          <a:p>
            <a:r>
              <a:rPr lang="zh-CN" altLang="en-US" sz="2000" b="1" dirty="0">
                <a:ln cap="rnd">
                  <a:noFill/>
                  <a:prstDash val="dot"/>
                </a:ln>
                <a:latin typeface="苏新诗柳楷简" panose="02010600000101010101" charset="-122"/>
                <a:ea typeface="苏新诗柳楷简" panose="02010600000101010101" charset="-122"/>
                <a:cs typeface="苏新诗柳楷简" panose="02010600000101010101" charset="-122"/>
              </a:rPr>
              <a:t>游戏点：（</a:t>
            </a:r>
            <a:r>
              <a:rPr lang="en-US" altLang="zh-CN" sz="2000" b="1" dirty="0">
                <a:ln cap="rnd">
                  <a:noFill/>
                  <a:prstDash val="dot"/>
                </a:ln>
                <a:latin typeface="苏新诗柳楷简" panose="02010600000101010101" charset="-122"/>
                <a:ea typeface="苏新诗柳楷简" panose="02010600000101010101" charset="-122"/>
                <a:cs typeface="苏新诗柳楷简" panose="02010600000101010101" charset="-122"/>
              </a:rPr>
              <a:t>4</a:t>
            </a:r>
            <a:r>
              <a:rPr lang="zh-CN" altLang="en-US" sz="2000" b="1" dirty="0">
                <a:ln cap="rnd">
                  <a:noFill/>
                  <a:prstDash val="dot"/>
                </a:ln>
                <a:latin typeface="苏新诗柳楷简" panose="02010600000101010101" charset="-122"/>
                <a:ea typeface="苏新诗柳楷简" panose="02010600000101010101" charset="-122"/>
                <a:cs typeface="苏新诗柳楷简" panose="02010600000101010101" charset="-122"/>
              </a:rPr>
              <a:t>处）</a:t>
            </a:r>
            <a:endParaRPr lang="zh-CN" altLang="en-US" sz="1400" b="1" dirty="0">
              <a:ln cap="rnd">
                <a:noFill/>
                <a:prstDash val="dot"/>
              </a:ln>
              <a:latin typeface="苏新诗柳楷简" panose="02010600000101010101" charset="-122"/>
              <a:ea typeface="苏新诗柳楷简" panose="02010600000101010101" charset="-122"/>
              <a:cs typeface="苏新诗柳楷简" panose="02010600000101010101" charset="-122"/>
            </a:endParaRPr>
          </a:p>
          <a:p>
            <a:r>
              <a:rPr lang="zh-CN" altLang="en-US" sz="1400" b="1" dirty="0">
                <a:ln cap="rnd">
                  <a:noFill/>
                  <a:prstDash val="dot"/>
                </a:ln>
                <a:ea typeface="苏新诗柳楷简" panose="02010600000101010101" charset="-122"/>
              </a:rPr>
              <a:t>找到指定地点完成游戏可得相应分值（如场地不合适可选择周围地点）</a:t>
            </a:r>
            <a:endParaRPr lang="en-US" altLang="zh-CN" sz="1400" b="1" dirty="0">
              <a:ln cap="rnd">
                <a:noFill/>
                <a:prstDash val="dot"/>
              </a:ln>
              <a:ea typeface="苏新诗柳楷简" panose="02010600000101010101" charset="-122"/>
            </a:endParaRPr>
          </a:p>
          <a:p>
            <a:pPr marL="342900" indent="-342900">
              <a:buFont typeface="Wingdings" panose="05000000000000000000" charset="0"/>
              <a:buChar char="Ø"/>
            </a:pPr>
            <a:r>
              <a:rPr lang="zh-CN" altLang="en-US" sz="1600" dirty="0">
                <a:ln cap="rnd">
                  <a:noFill/>
                  <a:prstDash val="dot"/>
                </a:ln>
                <a:ea typeface="苏新诗柳楷简" panose="02010600000101010101" charset="-122"/>
                <a:sym typeface="+mn-ea"/>
              </a:rPr>
              <a:t>李大钊像</a:t>
            </a:r>
            <a:r>
              <a:rPr lang="zh-CN" altLang="en-US" sz="1600" dirty="0">
                <a:ln cap="rnd">
                  <a:noFill/>
                  <a:prstDash val="dot"/>
                </a:ln>
                <a:ea typeface="苏新诗柳楷简" panose="02010600000101010101" charset="-122"/>
              </a:rPr>
              <a:t>（你划我猜）</a:t>
            </a:r>
          </a:p>
          <a:p>
            <a:pPr marL="342900" indent="-342900">
              <a:buFont typeface="Wingdings" panose="05000000000000000000" charset="0"/>
              <a:buChar char="Ø"/>
            </a:pPr>
            <a:r>
              <a:rPr lang="zh-CN" altLang="en-US" sz="1600" dirty="0">
                <a:ln cap="rnd">
                  <a:noFill/>
                  <a:prstDash val="dot"/>
                </a:ln>
                <a:ea typeface="苏新诗柳楷简" panose="02010600000101010101" charset="-122"/>
              </a:rPr>
              <a:t>塞万提斯像</a:t>
            </a:r>
            <a:r>
              <a:rPr lang="zh-CN" altLang="en-US" sz="1600" dirty="0">
                <a:ln cap="rnd">
                  <a:noFill/>
                  <a:prstDash val="dot"/>
                </a:ln>
                <a:ea typeface="苏新诗柳楷简" panose="02010600000101010101" charset="-122"/>
                <a:sym typeface="+mn-ea"/>
              </a:rPr>
              <a:t>（表演猜故事）</a:t>
            </a:r>
          </a:p>
          <a:p>
            <a:pPr marL="342900" indent="-342900">
              <a:buFont typeface="Wingdings" panose="05000000000000000000" charset="0"/>
              <a:buChar char="Ø"/>
            </a:pPr>
            <a:r>
              <a:rPr lang="zh-CN" altLang="en-US" sz="1600" dirty="0">
                <a:ln cap="rnd">
                  <a:noFill/>
                  <a:prstDash val="dot"/>
                </a:ln>
                <a:ea typeface="苏新诗柳楷简" panose="02010600000101010101" charset="-122"/>
                <a:sym typeface="+mn-ea"/>
              </a:rPr>
              <a:t>艺术学院前（传声筒）</a:t>
            </a:r>
            <a:endParaRPr lang="en-US" altLang="zh-CN" sz="1600" dirty="0">
              <a:ln cap="rnd">
                <a:noFill/>
                <a:prstDash val="dot"/>
              </a:ln>
              <a:ea typeface="苏新诗柳楷简" panose="02010600000101010101" charset="-122"/>
              <a:sym typeface="+mn-ea"/>
            </a:endParaRPr>
          </a:p>
          <a:p>
            <a:pPr marL="342900" indent="-342900">
              <a:buFont typeface="Wingdings" panose="05000000000000000000" charset="0"/>
              <a:buChar char="Ø"/>
            </a:pPr>
            <a:r>
              <a:rPr lang="zh-CN" altLang="en-US" sz="1600" dirty="0">
                <a:ln cap="rnd">
                  <a:noFill/>
                  <a:prstDash val="dot"/>
                </a:ln>
                <a:ea typeface="苏新诗柳楷简" panose="02010600000101010101" charset="-122"/>
                <a:sym typeface="+mn-ea"/>
              </a:rPr>
              <a:t>湖心亭（两人一球）</a:t>
            </a:r>
            <a:endParaRPr lang="en-US" altLang="zh-CN" sz="1600" dirty="0">
              <a:ln cap="rnd">
                <a:noFill/>
                <a:prstDash val="dot"/>
              </a:ln>
              <a:ea typeface="苏新诗柳楷简" panose="02010600000101010101" charset="-122"/>
              <a:sym typeface="+mn-ea"/>
            </a:endParaRPr>
          </a:p>
        </p:txBody>
      </p:sp>
      <p:pic>
        <p:nvPicPr>
          <p:cNvPr id="2" name="图片 1" descr="地图2"/>
          <p:cNvPicPr>
            <a:picLocks noChangeAspect="1"/>
          </p:cNvPicPr>
          <p:nvPr/>
        </p:nvPicPr>
        <p:blipFill>
          <a:blip r:embed="rId3"/>
          <a:stretch>
            <a:fillRect/>
          </a:stretch>
        </p:blipFill>
        <p:spPr>
          <a:xfrm>
            <a:off x="3080385" y="93980"/>
            <a:ext cx="6010910" cy="6399530"/>
          </a:xfrm>
          <a:prstGeom prst="rect">
            <a:avLst/>
          </a:prstGeom>
        </p:spPr>
      </p:pic>
      <p:sp>
        <p:nvSpPr>
          <p:cNvPr id="7" name="文本框 6"/>
          <p:cNvSpPr txBox="1"/>
          <p:nvPr/>
        </p:nvSpPr>
        <p:spPr>
          <a:xfrm>
            <a:off x="4204046" y="92258"/>
            <a:ext cx="4214495" cy="521970"/>
          </a:xfrm>
          <a:prstGeom prst="rect">
            <a:avLst/>
          </a:prstGeom>
          <a:noFill/>
        </p:spPr>
        <p:txBody>
          <a:bodyPr wrap="square" rtlCol="0">
            <a:spAutoFit/>
          </a:bodyPr>
          <a:lstStyle/>
          <a:p>
            <a:r>
              <a:rPr lang="zh-CN" altLang="en-US" sz="2800" b="1" dirty="0">
                <a:solidFill>
                  <a:schemeClr val="bg1"/>
                </a:solidFill>
                <a:latin typeface="苏新诗柳楷简" panose="02010600000101010101" charset="-122"/>
                <a:ea typeface="苏新诗柳楷简" panose="02010600000101010101" charset="-122"/>
                <a:sym typeface="+mn-ea"/>
              </a:rPr>
              <a:t>燕园地图（静园及以北）</a:t>
            </a:r>
          </a:p>
        </p:txBody>
      </p:sp>
      <p:sp>
        <p:nvSpPr>
          <p:cNvPr id="4" name="文本框 3"/>
          <p:cNvSpPr txBox="1"/>
          <p:nvPr/>
        </p:nvSpPr>
        <p:spPr>
          <a:xfrm>
            <a:off x="4613910" y="6504940"/>
            <a:ext cx="3198495" cy="337185"/>
          </a:xfrm>
          <a:prstGeom prst="rect">
            <a:avLst/>
          </a:prstGeom>
          <a:noFill/>
        </p:spPr>
        <p:txBody>
          <a:bodyPr wrap="square" rtlCol="0">
            <a:spAutoFit/>
          </a:bodyPr>
          <a:lstStyle/>
          <a:p>
            <a:r>
              <a:rPr lang="zh-CN" altLang="en-US" sz="1600">
                <a:ln cap="rnd">
                  <a:noFill/>
                  <a:prstDash val="dot"/>
                </a:ln>
                <a:latin typeface="苏新诗柳楷简" panose="02010600000101010101" charset="-122"/>
                <a:ea typeface="苏新诗柳楷简" panose="02010600000101010101" charset="-122"/>
                <a:cs typeface="苏新诗柳楷简" panose="02010600000101010101" charset="-122"/>
              </a:rPr>
              <a:t>（考验大家眼力的时候到了hhh）</a:t>
            </a:r>
          </a:p>
        </p:txBody>
      </p:sp>
      <p:sp>
        <p:nvSpPr>
          <p:cNvPr id="6" name="椭圆 5">
            <a:extLst>
              <a:ext uri="{FF2B5EF4-FFF2-40B4-BE49-F238E27FC236}">
                <a16:creationId xmlns:a16="http://schemas.microsoft.com/office/drawing/2014/main" id="{A37236F5-EB63-92A9-4692-6110D908A326}"/>
              </a:ext>
            </a:extLst>
          </p:cNvPr>
          <p:cNvSpPr/>
          <p:nvPr/>
        </p:nvSpPr>
        <p:spPr>
          <a:xfrm>
            <a:off x="5393633" y="3180219"/>
            <a:ext cx="99392" cy="106320"/>
          </a:xfrm>
          <a:prstGeom prst="ellipse">
            <a:avLst/>
          </a:prstGeom>
          <a:solidFill>
            <a:srgbClr val="CEEA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FCA2D44-BA1E-4B0B-71F8-1ACB1919EAF4}"/>
              </a:ext>
            </a:extLst>
          </p:cNvPr>
          <p:cNvSpPr/>
          <p:nvPr/>
        </p:nvSpPr>
        <p:spPr>
          <a:xfrm>
            <a:off x="3879518" y="2975113"/>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E6D923C-F605-B1BE-944B-3D9B1BD94683}"/>
              </a:ext>
            </a:extLst>
          </p:cNvPr>
          <p:cNvSpPr/>
          <p:nvPr/>
        </p:nvSpPr>
        <p:spPr>
          <a:xfrm>
            <a:off x="5854092" y="4971791"/>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9717EF8-E870-1CDA-20A7-8D999CB0812D}"/>
              </a:ext>
            </a:extLst>
          </p:cNvPr>
          <p:cNvSpPr/>
          <p:nvPr/>
        </p:nvSpPr>
        <p:spPr>
          <a:xfrm>
            <a:off x="5953484" y="2697573"/>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3DD9261C-C188-5207-FB96-1A5D78429062}"/>
              </a:ext>
            </a:extLst>
          </p:cNvPr>
          <p:cNvSpPr/>
          <p:nvPr/>
        </p:nvSpPr>
        <p:spPr>
          <a:xfrm>
            <a:off x="6463693" y="548739"/>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61830ED-FE2F-2817-FFE6-71373A2E87A7}"/>
              </a:ext>
            </a:extLst>
          </p:cNvPr>
          <p:cNvSpPr/>
          <p:nvPr/>
        </p:nvSpPr>
        <p:spPr>
          <a:xfrm>
            <a:off x="4327316" y="2633529"/>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D3F64ADE-5F95-8A37-6F44-C49B1551EC41}"/>
              </a:ext>
            </a:extLst>
          </p:cNvPr>
          <p:cNvSpPr/>
          <p:nvPr/>
        </p:nvSpPr>
        <p:spPr>
          <a:xfrm>
            <a:off x="6566344" y="5627773"/>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94DE985-187A-1975-3E3A-7180ECF3D7C4}"/>
              </a:ext>
            </a:extLst>
          </p:cNvPr>
          <p:cNvSpPr/>
          <p:nvPr/>
        </p:nvSpPr>
        <p:spPr>
          <a:xfrm>
            <a:off x="3926383" y="3779692"/>
            <a:ext cx="99392" cy="10632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星形: 五角 17">
            <a:extLst>
              <a:ext uri="{FF2B5EF4-FFF2-40B4-BE49-F238E27FC236}">
                <a16:creationId xmlns:a16="http://schemas.microsoft.com/office/drawing/2014/main" id="{343E3699-CC83-D962-7768-6674B5267356}"/>
              </a:ext>
            </a:extLst>
          </p:cNvPr>
          <p:cNvSpPr/>
          <p:nvPr/>
        </p:nvSpPr>
        <p:spPr>
          <a:xfrm>
            <a:off x="5049078" y="5918615"/>
            <a:ext cx="344555" cy="311426"/>
          </a:xfrm>
          <a:prstGeom prst="star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5506BD2-6503-6C17-E10A-573768E078E2}"/>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9962" b="92529" l="6096" r="96211">
                        <a14:foregroundMark x1="22405" y1="25096" x2="22405" y2="25096"/>
                        <a14:foregroundMark x1="81878" y1="28927" x2="81878" y2="28927"/>
                        <a14:foregroundMark x1="45470" y1="27395" x2="45470" y2="27395"/>
                        <a14:foregroundMark x1="12356" y1="16858" x2="12356" y2="16858"/>
                        <a14:foregroundMark x1="17133" y1="49808" x2="48435" y2="66667"/>
                        <a14:foregroundMark x1="48435" y1="66667" x2="32619" y2="22031"/>
                        <a14:foregroundMark x1="32619" y1="22031" x2="46952" y2="65517"/>
                        <a14:foregroundMark x1="46952" y1="65517" x2="52554" y2="26628"/>
                        <a14:foregroundMark x1="52554" y1="26628" x2="59802" y2="56513"/>
                        <a14:foregroundMark x1="59802" y1="56513" x2="31960" y2="50575"/>
                        <a14:foregroundMark x1="31960" y1="50575" x2="75453" y2="36590"/>
                        <a14:foregroundMark x1="75453" y1="36590" x2="63756" y2="68966"/>
                        <a14:foregroundMark x1="63756" y1="68966" x2="16310" y2="17433"/>
                        <a14:foregroundMark x1="16310" y1="17433" x2="80066" y2="34483"/>
                        <a14:foregroundMark x1="80066" y1="34483" x2="79901" y2="91954"/>
                        <a14:foregroundMark x1="79901" y1="91954" x2="58484" y2="89080"/>
                        <a14:foregroundMark x1="58484" y1="89080" x2="23888" y2="65900"/>
                        <a14:foregroundMark x1="23888" y1="65900" x2="12685" y2="44061"/>
                        <a14:foregroundMark x1="12685" y1="44061" x2="23723" y2="91379"/>
                        <a14:foregroundMark x1="23723" y1="91379" x2="13839" y2="48467"/>
                        <a14:foregroundMark x1="13839" y1="48467" x2="14168" y2="9962"/>
                        <a14:foregroundMark x1="58484" y1="48276" x2="21582" y2="34866"/>
                        <a14:foregroundMark x1="21582" y1="34866" x2="6260" y2="55364"/>
                        <a14:foregroundMark x1="6260" y1="55364" x2="10214" y2="55939"/>
                        <a14:foregroundMark x1="7908" y1="53831" x2="29819" y2="76437"/>
                        <a14:foregroundMark x1="29819" y1="76437" x2="21252" y2="96169"/>
                        <a14:foregroundMark x1="21252" y1="96169" x2="70016" y2="92720"/>
                        <a14:foregroundMark x1="70016" y1="92720" x2="89951" y2="36590"/>
                        <a14:foregroundMark x1="89951" y1="36590" x2="86491" y2="11303"/>
                        <a14:foregroundMark x1="86491" y1="11303" x2="65074" y2="26628"/>
                        <a14:foregroundMark x1="65074" y1="26628" x2="64086" y2="26628"/>
                        <a14:foregroundMark x1="85832" y1="17625" x2="93740" y2="43103"/>
                        <a14:foregroundMark x1="93740" y1="43103" x2="96211" y2="91379"/>
                        <a14:foregroundMark x1="96211" y1="91379" x2="83031" y2="46360"/>
                        <a14:foregroundMark x1="83031" y1="46360" x2="23394" y2="16092"/>
                        <a14:foregroundMark x1="23394" y1="16092" x2="6919" y2="41188"/>
                        <a14:foregroundMark x1="6919" y1="41188" x2="39703" y2="30843"/>
                        <a14:foregroundMark x1="39703" y1="30843" x2="42504" y2="64176"/>
                        <a14:foregroundMark x1="42504" y1="64176" x2="74300" y2="27969"/>
                        <a14:foregroundMark x1="74300" y1="27969" x2="60461" y2="70307"/>
                        <a14:foregroundMark x1="60461" y1="70307" x2="66557" y2="29693"/>
                        <a14:foregroundMark x1="66557" y1="29693" x2="70675" y2="52874"/>
                        <a14:foregroundMark x1="70675" y1="52874" x2="60956" y2="33716"/>
                        <a14:foregroundMark x1="60956" y1="33716" x2="54695" y2="27395"/>
                      </a14:backgroundRemoval>
                    </a14:imgEffect>
                  </a14:imgLayer>
                </a14:imgProps>
              </a:ext>
              <a:ext uri="{28A0092B-C50C-407E-A947-70E740481C1C}">
                <a14:useLocalDpi xmlns:a14="http://schemas.microsoft.com/office/drawing/2010/main" val="0"/>
              </a:ext>
            </a:extLst>
          </a:blip>
          <a:stretch>
            <a:fillRect/>
          </a:stretch>
        </p:blipFill>
        <p:spPr>
          <a:xfrm>
            <a:off x="6326450" y="4531991"/>
            <a:ext cx="2525622" cy="2172897"/>
          </a:xfrm>
          <a:prstGeom prst="rect">
            <a:avLst/>
          </a:prstGeom>
        </p:spPr>
      </p:pic>
      <p:pic>
        <p:nvPicPr>
          <p:cNvPr id="5" name="图片 4" descr="手小语"/>
          <p:cNvPicPr>
            <a:picLocks noChangeAspect="1"/>
          </p:cNvPicPr>
          <p:nvPr/>
        </p:nvPicPr>
        <p:blipFill>
          <a:blip r:embed="rId5"/>
          <a:srcRect t="2438"/>
          <a:stretch>
            <a:fillRect/>
          </a:stretch>
        </p:blipFill>
        <p:spPr>
          <a:xfrm>
            <a:off x="6436703" y="183248"/>
            <a:ext cx="2313940" cy="2287270"/>
          </a:xfrm>
          <a:prstGeom prst="rect">
            <a:avLst/>
          </a:prstGeom>
        </p:spPr>
      </p:pic>
      <p:sp>
        <p:nvSpPr>
          <p:cNvPr id="8" name="文本框 7"/>
          <p:cNvSpPr txBox="1"/>
          <p:nvPr/>
        </p:nvSpPr>
        <p:spPr>
          <a:xfrm>
            <a:off x="5733781" y="588311"/>
            <a:ext cx="615553" cy="1708160"/>
          </a:xfrm>
          <a:prstGeom prst="rect">
            <a:avLst/>
          </a:prstGeom>
          <a:noFill/>
        </p:spPr>
        <p:txBody>
          <a:bodyPr vert="eaVert" wrap="none" rtlCol="0">
            <a:spAutoFit/>
          </a:bodyPr>
          <a:lstStyle/>
          <a:p>
            <a:r>
              <a:rPr lang="zh-CN" altLang="en-US" sz="2800" b="1" dirty="0">
                <a:ln cap="rnd">
                  <a:noFill/>
                  <a:prstDash val="dot"/>
                </a:ln>
                <a:ea typeface="苏新诗柳楷简" panose="02010600000101010101" charset="-122"/>
              </a:rPr>
              <a:t>认识一下</a:t>
            </a:r>
            <a:r>
              <a:rPr lang="en-US" altLang="zh-CN" sz="2800" b="1" dirty="0">
                <a:ln cap="rnd">
                  <a:noFill/>
                  <a:prstDash val="dot"/>
                </a:ln>
                <a:ea typeface="苏新诗柳楷简" panose="02010600000101010101" charset="-122"/>
              </a:rPr>
              <a:t>~</a:t>
            </a:r>
            <a:endParaRPr lang="zh-CN" altLang="en-US" sz="2800" b="1" dirty="0">
              <a:ln cap="rnd">
                <a:noFill/>
                <a:prstDash val="dot"/>
              </a:ln>
              <a:ea typeface="苏新诗柳楷简" panose="02010600000101010101" charset="-122"/>
            </a:endParaRPr>
          </a:p>
        </p:txBody>
      </p:sp>
      <p:sp>
        <p:nvSpPr>
          <p:cNvPr id="3" name="文本框 2"/>
          <p:cNvSpPr txBox="1"/>
          <p:nvPr/>
        </p:nvSpPr>
        <p:spPr>
          <a:xfrm>
            <a:off x="6436703" y="2728685"/>
            <a:ext cx="1674495" cy="368300"/>
          </a:xfrm>
          <a:prstGeom prst="rect">
            <a:avLst/>
          </a:prstGeom>
          <a:noFill/>
        </p:spPr>
        <p:txBody>
          <a:bodyPr wrap="square" rtlCol="0" anchor="t">
            <a:spAutoFit/>
          </a:bodyPr>
          <a:lstStyle/>
          <a:p>
            <a:r>
              <a:rPr lang="zh-CN" altLang="en-US" dirty="0"/>
              <a:t>ε٩(๑&gt; ₃ &lt;)۶ з</a:t>
            </a:r>
          </a:p>
        </p:txBody>
      </p:sp>
      <p:graphicFrame>
        <p:nvGraphicFramePr>
          <p:cNvPr id="6" name="表格 6">
            <a:extLst>
              <a:ext uri="{FF2B5EF4-FFF2-40B4-BE49-F238E27FC236}">
                <a16:creationId xmlns:a16="http://schemas.microsoft.com/office/drawing/2014/main" id="{6852F64B-A9B3-7B79-CDA0-2EDDF8ED824F}"/>
              </a:ext>
            </a:extLst>
          </p:cNvPr>
          <p:cNvGraphicFramePr>
            <a:graphicFrameLocks noGrp="1"/>
          </p:cNvGraphicFramePr>
          <p:nvPr>
            <p:extLst>
              <p:ext uri="{D42A27DB-BD31-4B8C-83A1-F6EECF244321}">
                <p14:modId xmlns:p14="http://schemas.microsoft.com/office/powerpoint/2010/main" val="400106222"/>
              </p:ext>
            </p:extLst>
          </p:nvPr>
        </p:nvGraphicFramePr>
        <p:xfrm>
          <a:off x="443117" y="1012557"/>
          <a:ext cx="4725232" cy="2194560"/>
        </p:xfrm>
        <a:graphic>
          <a:graphicData uri="http://schemas.openxmlformats.org/drawingml/2006/table">
            <a:tbl>
              <a:tblPr firstRow="1" bandRow="1">
                <a:tableStyleId>{5940675A-B579-460E-94D1-54222C63F5DA}</a:tableStyleId>
              </a:tblPr>
              <a:tblGrid>
                <a:gridCol w="658825">
                  <a:extLst>
                    <a:ext uri="{9D8B030D-6E8A-4147-A177-3AD203B41FA5}">
                      <a16:colId xmlns:a16="http://schemas.microsoft.com/office/drawing/2014/main" val="3929500523"/>
                    </a:ext>
                  </a:extLst>
                </a:gridCol>
                <a:gridCol w="1355469">
                  <a:extLst>
                    <a:ext uri="{9D8B030D-6E8A-4147-A177-3AD203B41FA5}">
                      <a16:colId xmlns:a16="http://schemas.microsoft.com/office/drawing/2014/main" val="1658784784"/>
                    </a:ext>
                  </a:extLst>
                </a:gridCol>
                <a:gridCol w="1355469">
                  <a:extLst>
                    <a:ext uri="{9D8B030D-6E8A-4147-A177-3AD203B41FA5}">
                      <a16:colId xmlns:a16="http://schemas.microsoft.com/office/drawing/2014/main" val="238620882"/>
                    </a:ext>
                  </a:extLst>
                </a:gridCol>
                <a:gridCol w="1355469">
                  <a:extLst>
                    <a:ext uri="{9D8B030D-6E8A-4147-A177-3AD203B41FA5}">
                      <a16:colId xmlns:a16="http://schemas.microsoft.com/office/drawing/2014/main" val="4121810194"/>
                    </a:ext>
                  </a:extLst>
                </a:gridCol>
              </a:tblGrid>
              <a:tr h="347593">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r>
                        <a:rPr lang="zh-CN" altLang="en-US" dirty="0">
                          <a:latin typeface="华光中雅_CNKI" panose="02000500000000000000" pitchFamily="2" charset="-122"/>
                          <a:ea typeface="华光中雅_CNKI" panose="02000500000000000000" pitchFamily="2" charset="-122"/>
                        </a:rPr>
                        <a:t>同学一</a:t>
                      </a:r>
                    </a:p>
                  </a:txBody>
                  <a:tcPr/>
                </a:tc>
                <a:tc>
                  <a:txBody>
                    <a:bodyPr/>
                    <a:lstStyle/>
                    <a:p>
                      <a:pPr algn="ctr"/>
                      <a:r>
                        <a:rPr lang="zh-CN" altLang="en-US" dirty="0">
                          <a:latin typeface="华光中雅_CNKI" panose="02000500000000000000" pitchFamily="2" charset="-122"/>
                          <a:ea typeface="华光中雅_CNKI" panose="02000500000000000000" pitchFamily="2" charset="-122"/>
                        </a:rPr>
                        <a:t>同学二</a:t>
                      </a:r>
                    </a:p>
                  </a:txBody>
                  <a:tcPr/>
                </a:tc>
                <a:tc>
                  <a:txBody>
                    <a:bodyPr/>
                    <a:lstStyle/>
                    <a:p>
                      <a:pPr algn="ctr"/>
                      <a:r>
                        <a:rPr lang="zh-CN" altLang="en-US" dirty="0">
                          <a:latin typeface="华光中雅_CNKI" panose="02000500000000000000" pitchFamily="2" charset="-122"/>
                          <a:ea typeface="华光中雅_CNKI" panose="02000500000000000000" pitchFamily="2" charset="-122"/>
                        </a:rPr>
                        <a:t>同学三</a:t>
                      </a:r>
                    </a:p>
                  </a:txBody>
                  <a:tcPr/>
                </a:tc>
                <a:extLst>
                  <a:ext uri="{0D108BD9-81ED-4DB2-BD59-A6C34878D82A}">
                    <a16:rowId xmlns:a16="http://schemas.microsoft.com/office/drawing/2014/main" val="1892522217"/>
                  </a:ext>
                </a:extLst>
              </a:tr>
              <a:tr h="347593">
                <a:tc>
                  <a:txBody>
                    <a:bodyPr/>
                    <a:lstStyle/>
                    <a:p>
                      <a:pPr algn="ctr"/>
                      <a:r>
                        <a:rPr lang="zh-CN" altLang="en-US" dirty="0">
                          <a:latin typeface="华光中雅_CNKI" panose="02000500000000000000" pitchFamily="2" charset="-122"/>
                          <a:ea typeface="华光中雅_CNKI" panose="02000500000000000000" pitchFamily="2" charset="-122"/>
                        </a:rPr>
                        <a:t>姓名</a:t>
                      </a: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a:latin typeface="华光中雅_CNKI" panose="02000500000000000000" pitchFamily="2" charset="-122"/>
                        <a:ea typeface="华光中雅_CNKI" panose="02000500000000000000" pitchFamily="2" charset="-122"/>
                      </a:endParaRPr>
                    </a:p>
                  </a:txBody>
                  <a:tcPr/>
                </a:tc>
                <a:extLst>
                  <a:ext uri="{0D108BD9-81ED-4DB2-BD59-A6C34878D82A}">
                    <a16:rowId xmlns:a16="http://schemas.microsoft.com/office/drawing/2014/main" val="1476768552"/>
                  </a:ext>
                </a:extLst>
              </a:tr>
              <a:tr h="347593">
                <a:tc>
                  <a:txBody>
                    <a:bodyPr/>
                    <a:lstStyle/>
                    <a:p>
                      <a:pPr algn="ctr"/>
                      <a:r>
                        <a:rPr lang="zh-CN" altLang="en-US" dirty="0">
                          <a:latin typeface="华光中雅_CNKI" panose="02000500000000000000" pitchFamily="2" charset="-122"/>
                          <a:ea typeface="华光中雅_CNKI" panose="02000500000000000000" pitchFamily="2" charset="-122"/>
                        </a:rPr>
                        <a:t>年级</a:t>
                      </a: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extLst>
                  <a:ext uri="{0D108BD9-81ED-4DB2-BD59-A6C34878D82A}">
                    <a16:rowId xmlns:a16="http://schemas.microsoft.com/office/drawing/2014/main" val="2195953758"/>
                  </a:ext>
                </a:extLst>
              </a:tr>
              <a:tr h="347593">
                <a:tc>
                  <a:txBody>
                    <a:bodyPr/>
                    <a:lstStyle/>
                    <a:p>
                      <a:pPr algn="ctr"/>
                      <a:r>
                        <a:rPr lang="zh-CN" altLang="en-US" dirty="0">
                          <a:latin typeface="华光中雅_CNKI" panose="02000500000000000000" pitchFamily="2" charset="-122"/>
                          <a:ea typeface="华光中雅_CNKI" panose="02000500000000000000" pitchFamily="2" charset="-122"/>
                        </a:rPr>
                        <a:t>专业</a:t>
                      </a: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extLst>
                  <a:ext uri="{0D108BD9-81ED-4DB2-BD59-A6C34878D82A}">
                    <a16:rowId xmlns:a16="http://schemas.microsoft.com/office/drawing/2014/main" val="3108941291"/>
                  </a:ext>
                </a:extLst>
              </a:tr>
              <a:tr h="347593">
                <a:tc>
                  <a:txBody>
                    <a:bodyPr/>
                    <a:lstStyle/>
                    <a:p>
                      <a:pPr algn="ctr"/>
                      <a:r>
                        <a:rPr lang="zh-CN" altLang="en-US" dirty="0">
                          <a:latin typeface="华光中雅_CNKI" panose="02000500000000000000" pitchFamily="2" charset="-122"/>
                          <a:ea typeface="华光中雅_CNKI" panose="02000500000000000000" pitchFamily="2" charset="-122"/>
                        </a:rPr>
                        <a:t>家乡</a:t>
                      </a:r>
                    </a:p>
                  </a:txBody>
                  <a:tcPr/>
                </a:tc>
                <a:tc>
                  <a:txBody>
                    <a:bodyPr/>
                    <a:lstStyle/>
                    <a:p>
                      <a:pPr algn="ctr"/>
                      <a:endParaRPr lang="zh-CN" altLang="en-US">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extLst>
                  <a:ext uri="{0D108BD9-81ED-4DB2-BD59-A6C34878D82A}">
                    <a16:rowId xmlns:a16="http://schemas.microsoft.com/office/drawing/2014/main" val="930175152"/>
                  </a:ext>
                </a:extLst>
              </a:tr>
              <a:tr h="347593">
                <a:tc>
                  <a:txBody>
                    <a:bodyPr/>
                    <a:lstStyle/>
                    <a:p>
                      <a:pPr algn="ctr"/>
                      <a:r>
                        <a:rPr lang="zh-CN" altLang="en-US" dirty="0">
                          <a:latin typeface="华光中雅_CNKI" panose="02000500000000000000" pitchFamily="2" charset="-122"/>
                          <a:ea typeface="华光中雅_CNKI" panose="02000500000000000000" pitchFamily="2" charset="-122"/>
                        </a:rPr>
                        <a:t>生日</a:t>
                      </a:r>
                    </a:p>
                  </a:txBody>
                  <a:tcPr/>
                </a:tc>
                <a:tc>
                  <a:txBody>
                    <a:bodyPr/>
                    <a:lstStyle/>
                    <a:p>
                      <a:pPr algn="ctr"/>
                      <a:endParaRPr lang="zh-CN" altLang="en-US">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tc>
                  <a:txBody>
                    <a:bodyPr/>
                    <a:lstStyle/>
                    <a:p>
                      <a:pPr algn="ctr"/>
                      <a:endParaRPr lang="zh-CN" altLang="en-US" dirty="0">
                        <a:latin typeface="华光中雅_CNKI" panose="02000500000000000000" pitchFamily="2" charset="-122"/>
                        <a:ea typeface="华光中雅_CNKI" panose="02000500000000000000" pitchFamily="2" charset="-122"/>
                      </a:endParaRPr>
                    </a:p>
                  </a:txBody>
                  <a:tcPr/>
                </a:tc>
                <a:extLst>
                  <a:ext uri="{0D108BD9-81ED-4DB2-BD59-A6C34878D82A}">
                    <a16:rowId xmlns:a16="http://schemas.microsoft.com/office/drawing/2014/main" val="1485301536"/>
                  </a:ext>
                </a:extLst>
              </a:tr>
            </a:tbl>
          </a:graphicData>
        </a:graphic>
      </p:graphicFrame>
      <p:sp>
        <p:nvSpPr>
          <p:cNvPr id="7" name="文本框 6">
            <a:extLst>
              <a:ext uri="{FF2B5EF4-FFF2-40B4-BE49-F238E27FC236}">
                <a16:creationId xmlns:a16="http://schemas.microsoft.com/office/drawing/2014/main" id="{DB62E6D9-60DE-6499-8CDB-0B27D1BFC278}"/>
              </a:ext>
            </a:extLst>
          </p:cNvPr>
          <p:cNvSpPr txBox="1"/>
          <p:nvPr/>
        </p:nvSpPr>
        <p:spPr>
          <a:xfrm>
            <a:off x="393357" y="265146"/>
            <a:ext cx="5340424" cy="646331"/>
          </a:xfrm>
          <a:prstGeom prst="rect">
            <a:avLst/>
          </a:prstGeom>
          <a:noFill/>
        </p:spPr>
        <p:txBody>
          <a:bodyPr wrap="square" rtlCol="0">
            <a:spAutoFit/>
          </a:bodyPr>
          <a:lstStyle/>
          <a:p>
            <a:r>
              <a:rPr lang="zh-CN" altLang="en-US" dirty="0">
                <a:latin typeface="华光仿宋二_CNKI" panose="02000500000000000000" pitchFamily="2" charset="-122"/>
                <a:ea typeface="华光仿宋二_CNKI" panose="02000500000000000000" pitchFamily="2" charset="-122"/>
              </a:rPr>
              <a:t>找三位同学询问以下信息。表不一定填但一定要问好记住哦！然后记得互相认真学习一下手语打法</a:t>
            </a:r>
            <a:r>
              <a:rPr lang="en-US" altLang="zh-CN" dirty="0">
                <a:latin typeface="华光仿宋二_CNKI" panose="02000500000000000000" pitchFamily="2" charset="-122"/>
                <a:ea typeface="华光仿宋二_CNKI" panose="02000500000000000000" pitchFamily="2" charset="-122"/>
              </a:rPr>
              <a:t>~</a:t>
            </a:r>
            <a:endParaRPr lang="zh-CN" altLang="en-US" dirty="0">
              <a:latin typeface="华光仿宋二_CNKI" panose="02000500000000000000" pitchFamily="2" charset="-122"/>
              <a:ea typeface="华光仿宋二_CNKI" panose="02000500000000000000" pitchFamily="2" charset="-122"/>
            </a:endParaRPr>
          </a:p>
        </p:txBody>
      </p:sp>
      <p:sp>
        <p:nvSpPr>
          <p:cNvPr id="9" name="文本框 8">
            <a:extLst>
              <a:ext uri="{FF2B5EF4-FFF2-40B4-BE49-F238E27FC236}">
                <a16:creationId xmlns:a16="http://schemas.microsoft.com/office/drawing/2014/main" id="{CE315BF3-066B-61B4-9DAE-46CCCB9AC0DD}"/>
              </a:ext>
            </a:extLst>
          </p:cNvPr>
          <p:cNvSpPr txBox="1"/>
          <p:nvPr/>
        </p:nvSpPr>
        <p:spPr>
          <a:xfrm>
            <a:off x="393354" y="3355152"/>
            <a:ext cx="4178645" cy="1661993"/>
          </a:xfrm>
          <a:prstGeom prst="rect">
            <a:avLst/>
          </a:prstGeom>
          <a:noFill/>
        </p:spPr>
        <p:txBody>
          <a:bodyPr wrap="square" rtlCol="0">
            <a:spAutoFit/>
          </a:bodyPr>
          <a:lstStyle/>
          <a:p>
            <a:r>
              <a:rPr lang="zh-CN" altLang="en-US" sz="2800" b="1" dirty="0">
                <a:ln cap="rnd">
                  <a:noFill/>
                  <a:prstDash val="dot"/>
                </a:ln>
                <a:ea typeface="苏新诗柳楷简" panose="02010600000101010101" charset="-122"/>
              </a:rPr>
              <a:t>破冰小游戏！</a:t>
            </a:r>
            <a:endParaRPr lang="en-US" altLang="zh-CN" sz="2800" b="1" dirty="0">
              <a:ln cap="rnd">
                <a:noFill/>
                <a:prstDash val="dot"/>
              </a:ln>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cs typeface="苏新诗柳楷简" panose="02010600000101010101" charset="-122"/>
                <a:sym typeface="+mn-ea"/>
              </a:rPr>
              <a:t>地点：组长自行决定</a:t>
            </a:r>
            <a:endParaRPr lang="en-US" altLang="zh-CN" dirty="0">
              <a:latin typeface="华光仿宋二_CNKI" panose="02000500000000000000" pitchFamily="2" charset="-122"/>
              <a:ea typeface="华光仿宋二_CNKI" panose="02000500000000000000" pitchFamily="2" charset="-122"/>
            </a:endParaRPr>
          </a:p>
          <a:p>
            <a:r>
              <a:rPr lang="zh-CN" altLang="en-US" dirty="0">
                <a:latin typeface="华光仿宋二_CNKI" panose="02000500000000000000" pitchFamily="2" charset="-122"/>
                <a:ea typeface="华光仿宋二_CNKI" panose="02000500000000000000" pitchFamily="2" charset="-122"/>
              </a:rPr>
              <a:t>除小组长外，两两分组，逐对上前背对背站立，由组长展示任务，任务成功</a:t>
            </a:r>
            <a:r>
              <a:rPr lang="zh-CN" altLang="en-US" b="1" dirty="0">
                <a:latin typeface="华光仿宋二_CNKI" panose="02000500000000000000" pitchFamily="2" charset="-122"/>
                <a:ea typeface="华光仿宋二_CNKI" panose="02000500000000000000" pitchFamily="2" charset="-122"/>
              </a:rPr>
              <a:t>加</a:t>
            </a:r>
            <a:r>
              <a:rPr lang="en-US" altLang="zh-CN" b="1" dirty="0">
                <a:latin typeface="华光仿宋二_CNKI" panose="02000500000000000000" pitchFamily="2" charset="-122"/>
                <a:ea typeface="华光仿宋二_CNKI" panose="02000500000000000000" pitchFamily="2" charset="-122"/>
              </a:rPr>
              <a:t>5</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，任务失败</a:t>
            </a:r>
            <a:r>
              <a:rPr lang="zh-CN" altLang="en-US" b="1" dirty="0">
                <a:latin typeface="华光仿宋二_CNKI" panose="02000500000000000000" pitchFamily="2" charset="-122"/>
                <a:ea typeface="华光仿宋二_CNKI" panose="02000500000000000000" pitchFamily="2" charset="-122"/>
              </a:rPr>
              <a:t>扣</a:t>
            </a:r>
            <a:r>
              <a:rPr lang="en-US" altLang="zh-CN" b="1" dirty="0">
                <a:latin typeface="华光仿宋二_CNKI" panose="02000500000000000000" pitchFamily="2" charset="-122"/>
                <a:ea typeface="华光仿宋二_CNKI" panose="02000500000000000000" pitchFamily="2" charset="-122"/>
              </a:rPr>
              <a:t>2</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a:t>
            </a:r>
          </a:p>
        </p:txBody>
      </p:sp>
      <p:sp>
        <p:nvSpPr>
          <p:cNvPr id="10" name="文本框 9">
            <a:extLst>
              <a:ext uri="{FF2B5EF4-FFF2-40B4-BE49-F238E27FC236}">
                <a16:creationId xmlns:a16="http://schemas.microsoft.com/office/drawing/2014/main" id="{ECE737A0-1C93-A94D-738C-17A53492B669}"/>
              </a:ext>
            </a:extLst>
          </p:cNvPr>
          <p:cNvSpPr txBox="1"/>
          <p:nvPr/>
        </p:nvSpPr>
        <p:spPr>
          <a:xfrm>
            <a:off x="4749692" y="3355152"/>
            <a:ext cx="4178646" cy="1384995"/>
          </a:xfrm>
          <a:prstGeom prst="rect">
            <a:avLst/>
          </a:prstGeom>
          <a:noFill/>
        </p:spPr>
        <p:txBody>
          <a:bodyPr wrap="square" rtlCol="0">
            <a:spAutoFit/>
          </a:bodyPr>
          <a:lstStyle/>
          <a:p>
            <a:r>
              <a:rPr lang="zh-CN" altLang="en-US" sz="2800" b="1" dirty="0">
                <a:ln cap="rnd">
                  <a:noFill/>
                  <a:prstDash val="dot"/>
                </a:ln>
                <a:ea typeface="苏新诗柳楷简" panose="02010600000101010101" charset="-122"/>
              </a:rPr>
              <a:t>支线任务：拍花</a:t>
            </a:r>
            <a:endParaRPr lang="en-US" altLang="zh-CN" sz="2800" b="1" dirty="0">
              <a:ln cap="rnd">
                <a:noFill/>
                <a:prstDash val="dot"/>
              </a:ln>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cs typeface="苏新诗柳楷简" panose="02010600000101010101" charset="-122"/>
                <a:sym typeface="+mn-ea"/>
              </a:rPr>
              <a:t>地点：校内任意</a:t>
            </a:r>
            <a:endParaRPr lang="en-US" altLang="zh-CN" dirty="0">
              <a:latin typeface="华光仿宋二_CNKI" panose="02000500000000000000" pitchFamily="2" charset="-122"/>
              <a:ea typeface="华光仿宋二_CNKI" panose="02000500000000000000" pitchFamily="2" charset="-122"/>
            </a:endParaRPr>
          </a:p>
          <a:p>
            <a:r>
              <a:rPr lang="zh-CN" altLang="en-US" dirty="0">
                <a:latin typeface="华光仿宋二_CNKI" panose="02000500000000000000" pitchFamily="2" charset="-122"/>
                <a:ea typeface="华光仿宋二_CNKI" panose="02000500000000000000" pitchFamily="2" charset="-122"/>
              </a:rPr>
              <a:t>在沿途中拍摄看到的花朵，每拍到一种不同的</a:t>
            </a:r>
            <a:r>
              <a:rPr lang="zh-CN" altLang="en-US" b="1" dirty="0">
                <a:latin typeface="华光仿宋二_CNKI" panose="02000500000000000000" pitchFamily="2" charset="-122"/>
                <a:ea typeface="华光仿宋二_CNKI" panose="02000500000000000000" pitchFamily="2" charset="-122"/>
              </a:rPr>
              <a:t>加</a:t>
            </a:r>
            <a:r>
              <a:rPr lang="en-US" altLang="zh-CN" b="1" dirty="0">
                <a:latin typeface="华光仿宋二_CNKI" panose="02000500000000000000" pitchFamily="2" charset="-122"/>
                <a:ea typeface="华光仿宋二_CNKI" panose="02000500000000000000" pitchFamily="2" charset="-122"/>
              </a:rPr>
              <a:t>1</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a:t>
            </a:r>
          </a:p>
        </p:txBody>
      </p:sp>
      <p:sp>
        <p:nvSpPr>
          <p:cNvPr id="11" name="文本框 10">
            <a:extLst>
              <a:ext uri="{FF2B5EF4-FFF2-40B4-BE49-F238E27FC236}">
                <a16:creationId xmlns:a16="http://schemas.microsoft.com/office/drawing/2014/main" id="{07A9A7C9-46F1-014C-1A40-E8B061F28D1A}"/>
              </a:ext>
            </a:extLst>
          </p:cNvPr>
          <p:cNvSpPr txBox="1"/>
          <p:nvPr/>
        </p:nvSpPr>
        <p:spPr>
          <a:xfrm>
            <a:off x="365643" y="5132548"/>
            <a:ext cx="6032518" cy="1384995"/>
          </a:xfrm>
          <a:prstGeom prst="rect">
            <a:avLst/>
          </a:prstGeom>
          <a:noFill/>
        </p:spPr>
        <p:txBody>
          <a:bodyPr wrap="square" rtlCol="0">
            <a:spAutoFit/>
          </a:bodyPr>
          <a:lstStyle/>
          <a:p>
            <a:r>
              <a:rPr lang="zh-CN" altLang="en-US" sz="2800" b="1" dirty="0">
                <a:ln cap="rnd">
                  <a:noFill/>
                  <a:prstDash val="dot"/>
                </a:ln>
                <a:ea typeface="苏新诗柳楷简" panose="02010600000101010101" charset="-122"/>
              </a:rPr>
              <a:t>时间结算</a:t>
            </a:r>
            <a:endParaRPr lang="en-US" altLang="zh-CN" sz="2800" b="1" dirty="0">
              <a:ln cap="rnd">
                <a:noFill/>
                <a:prstDash val="dot"/>
              </a:ln>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cs typeface="苏新诗柳楷简" panose="02010600000101010101" charset="-122"/>
                <a:sym typeface="+mn-ea"/>
              </a:rPr>
              <a:t>不要回来太晚，否则会扣分哦！</a:t>
            </a:r>
            <a:endParaRPr lang="en-US" altLang="zh-CN" sz="2000" b="1" dirty="0">
              <a:latin typeface="华光准圆_CNKI" panose="02000500000000000000" pitchFamily="2" charset="-122"/>
              <a:ea typeface="华光准圆_CNKI" panose="02000500000000000000" pitchFamily="2" charset="-122"/>
              <a:cs typeface="苏新诗柳楷简" panose="02010600000101010101" charset="-122"/>
              <a:sym typeface="+mn-ea"/>
            </a:endParaRPr>
          </a:p>
          <a:p>
            <a:r>
              <a:rPr lang="zh-CN" altLang="en-US" dirty="0">
                <a:latin typeface="华光仿宋二_CNKI" panose="02000500000000000000" pitchFamily="2" charset="-122"/>
                <a:ea typeface="华光仿宋二_CNKI" panose="02000500000000000000" pitchFamily="2" charset="-122"/>
              </a:rPr>
              <a:t>以回到静园草坪拍照的时间为最终时间，</a:t>
            </a:r>
            <a:r>
              <a:rPr lang="en-US" altLang="zh-CN" dirty="0">
                <a:latin typeface="华光仿宋二_CNKI" panose="02000500000000000000" pitchFamily="2" charset="-122"/>
                <a:ea typeface="华光仿宋二_CNKI" panose="02000500000000000000" pitchFamily="2" charset="-122"/>
              </a:rPr>
              <a:t>16</a:t>
            </a:r>
            <a:r>
              <a:rPr lang="zh-CN" altLang="en-US" dirty="0">
                <a:latin typeface="华光仿宋二_CNKI" panose="02000500000000000000" pitchFamily="2" charset="-122"/>
                <a:ea typeface="华光仿宋二_CNKI" panose="02000500000000000000" pitchFamily="2" charset="-122"/>
              </a:rPr>
              <a:t>点</a:t>
            </a:r>
            <a:r>
              <a:rPr lang="en-US" altLang="zh-CN" dirty="0">
                <a:latin typeface="华光仿宋二_CNKI" panose="02000500000000000000" pitchFamily="2" charset="-122"/>
                <a:ea typeface="华光仿宋二_CNKI" panose="02000500000000000000" pitchFamily="2" charset="-122"/>
              </a:rPr>
              <a:t>20</a:t>
            </a:r>
            <a:r>
              <a:rPr lang="zh-CN" altLang="en-US" dirty="0">
                <a:latin typeface="华光仿宋二_CNKI" panose="02000500000000000000" pitchFamily="2" charset="-122"/>
                <a:ea typeface="华光仿宋二_CNKI" panose="02000500000000000000" pitchFamily="2" charset="-122"/>
              </a:rPr>
              <a:t>前回到静园草坪的，提前</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分钟</a:t>
            </a:r>
            <a:r>
              <a:rPr lang="zh-CN" altLang="en-US" b="1" dirty="0">
                <a:latin typeface="华光仿宋二_CNKI" panose="02000500000000000000" pitchFamily="2" charset="-122"/>
                <a:ea typeface="华光仿宋二_CNKI" panose="02000500000000000000" pitchFamily="2" charset="-122"/>
              </a:rPr>
              <a:t>加</a:t>
            </a:r>
            <a:r>
              <a:rPr lang="en-US" altLang="zh-CN" b="1" dirty="0">
                <a:latin typeface="华光仿宋二_CNKI" panose="02000500000000000000" pitchFamily="2" charset="-122"/>
                <a:ea typeface="华光仿宋二_CNKI" panose="02000500000000000000" pitchFamily="2" charset="-122"/>
              </a:rPr>
              <a:t>1</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，每晚</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分钟</a:t>
            </a:r>
            <a:r>
              <a:rPr lang="zh-CN" altLang="en-US" b="1" dirty="0">
                <a:latin typeface="华光仿宋二_CNKI" panose="02000500000000000000" pitchFamily="2" charset="-122"/>
                <a:ea typeface="华光仿宋二_CNKI" panose="02000500000000000000" pitchFamily="2" charset="-122"/>
              </a:rPr>
              <a:t>扣</a:t>
            </a:r>
            <a:r>
              <a:rPr lang="en-US" altLang="zh-CN" b="1" dirty="0">
                <a:latin typeface="华光仿宋二_CNKI" panose="02000500000000000000" pitchFamily="2" charset="-122"/>
                <a:ea typeface="华光仿宋二_CNKI" panose="02000500000000000000" pitchFamily="2" charset="-122"/>
              </a:rPr>
              <a:t>2</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9191" y="218619"/>
            <a:ext cx="4379595" cy="2769989"/>
          </a:xfrm>
          <a:prstGeom prst="rect">
            <a:avLst/>
          </a:prstGeom>
          <a:noFill/>
          <a:ln>
            <a:solidFill>
              <a:schemeClr val="tx1">
                <a:lumMod val="75000"/>
                <a:lumOff val="25000"/>
              </a:schemeClr>
            </a:solidFill>
            <a:prstDash val="dash"/>
          </a:ln>
        </p:spPr>
        <p:txBody>
          <a:bodyPr wrap="square" rtlCol="0">
            <a:spAutoFit/>
          </a:bodyPr>
          <a:lstStyle/>
          <a:p>
            <a:r>
              <a:rPr lang="zh-CN" altLang="en-US" sz="2800" b="1" dirty="0">
                <a:latin typeface="苏新诗柳楷简" panose="02010600000101010101" charset="-122"/>
                <a:ea typeface="苏新诗柳楷简" panose="02010600000101010101" charset="-122"/>
              </a:rPr>
              <a:t>游戏一</a:t>
            </a:r>
            <a:r>
              <a:rPr lang="zh-CN" altLang="en-US" sz="1400" dirty="0"/>
              <a:t>     </a:t>
            </a:r>
            <a:r>
              <a:rPr lang="zh-CN" altLang="en-US" sz="2400" b="1" dirty="0">
                <a:latin typeface="苏新诗柳楷简" panose="02010600000101010101" charset="-122"/>
                <a:ea typeface="苏新诗柳楷简" panose="02010600000101010101" charset="-122"/>
                <a:cs typeface="苏新诗柳楷简" panose="02010600000101010101" charset="-122"/>
              </a:rPr>
              <a:t> 你划我猜</a:t>
            </a:r>
          </a:p>
          <a:p>
            <a:r>
              <a:rPr lang="zh-CN" altLang="en-US" sz="2000" b="1" dirty="0">
                <a:latin typeface="华光准圆_CNKI" panose="02000500000000000000" pitchFamily="2" charset="-122"/>
                <a:ea typeface="华光准圆_CNKI" panose="02000500000000000000" pitchFamily="2" charset="-122"/>
                <a:cs typeface="苏新诗柳楷简" panose="02010600000101010101" charset="-122"/>
                <a:sym typeface="+mn-ea"/>
              </a:rPr>
              <a:t>地点：</a:t>
            </a:r>
            <a:r>
              <a:rPr lang="zh-CN" altLang="en-US" b="1" dirty="0">
                <a:latin typeface="华光准圆_CNKI" panose="02000500000000000000" pitchFamily="2" charset="-122"/>
                <a:ea typeface="华光准圆_CNKI" panose="02000500000000000000" pitchFamily="2" charset="-122"/>
                <a:cs typeface="苏新诗柳楷简" panose="02010600000101010101" charset="-122"/>
              </a:rPr>
              <a:t>李大钊像</a:t>
            </a:r>
            <a:endParaRPr lang="en-US" altLang="zh-CN" b="1" dirty="0">
              <a:latin typeface="华光准圆_CNKI" panose="02000500000000000000" pitchFamily="2" charset="-122"/>
              <a:ea typeface="华光准圆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小组长将词语逐一展现给联大同学；</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联大同学看完后通过手语或比划将词</a:t>
            </a:r>
            <a:r>
              <a:rPr lang="en-US" altLang="zh-CN" dirty="0">
                <a:latin typeface="华光仿宋二_CNKI" panose="02000500000000000000" pitchFamily="2" charset="-122"/>
                <a:ea typeface="华光仿宋二_CNKI" panose="02000500000000000000" pitchFamily="2" charset="-122"/>
                <a:cs typeface="苏新诗柳楷简" panose="02010600000101010101" charset="-122"/>
              </a:rPr>
              <a:t>“</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告诉</a:t>
            </a:r>
            <a:r>
              <a:rPr lang="en-US" altLang="zh-CN" dirty="0">
                <a:latin typeface="华光仿宋二_CNKI" panose="02000500000000000000" pitchFamily="2" charset="-122"/>
                <a:ea typeface="华光仿宋二_CNKI" panose="02000500000000000000" pitchFamily="2" charset="-122"/>
                <a:cs typeface="苏新诗柳楷简" panose="02010600000101010101" charset="-122"/>
              </a:rPr>
              <a:t>”</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分社同学，分社有同学确猜出词语则为正确猜不出可以选择跳过；</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sym typeface="+mn-ea"/>
              </a:rPr>
              <a:t>共5分钟，正确一个得</a:t>
            </a:r>
            <a:r>
              <a:rPr lang="en-US" altLang="zh-CN" b="1" dirty="0">
                <a:latin typeface="华光仿宋二_CNKI" panose="02000500000000000000" pitchFamily="2" charset="-122"/>
                <a:ea typeface="华光仿宋二_CNKI" panose="02000500000000000000" pitchFamily="2" charset="-122"/>
                <a:cs typeface="苏新诗柳楷简" panose="02010600000101010101" charset="-122"/>
                <a:sym typeface="+mn-ea"/>
              </a:rPr>
              <a:t>2</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sym typeface="+mn-ea"/>
              </a:rPr>
              <a:t>分；</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只可以通过手势动作和表演，不可出声，否则</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视为错误</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p:txBody>
      </p:sp>
      <p:sp>
        <p:nvSpPr>
          <p:cNvPr id="4" name="文本框 3">
            <a:extLst>
              <a:ext uri="{FF2B5EF4-FFF2-40B4-BE49-F238E27FC236}">
                <a16:creationId xmlns:a16="http://schemas.microsoft.com/office/drawing/2014/main" id="{B2A14D9E-2E27-2850-5A7D-C6D640744077}"/>
              </a:ext>
            </a:extLst>
          </p:cNvPr>
          <p:cNvSpPr txBox="1"/>
          <p:nvPr/>
        </p:nvSpPr>
        <p:spPr>
          <a:xfrm>
            <a:off x="159190" y="3051647"/>
            <a:ext cx="4379595" cy="3600986"/>
          </a:xfrm>
          <a:prstGeom prst="rect">
            <a:avLst/>
          </a:prstGeom>
          <a:noFill/>
          <a:ln>
            <a:solidFill>
              <a:schemeClr val="tx1">
                <a:lumMod val="75000"/>
                <a:lumOff val="25000"/>
              </a:schemeClr>
            </a:solidFill>
            <a:prstDash val="dash"/>
          </a:ln>
        </p:spPr>
        <p:txBody>
          <a:bodyPr wrap="square" rtlCol="0">
            <a:spAutoFit/>
          </a:bodyPr>
          <a:lstStyle/>
          <a:p>
            <a:r>
              <a:rPr lang="zh-CN" altLang="en-US" sz="2800" b="1" dirty="0">
                <a:latin typeface="苏新诗柳楷简" panose="02010600000101010101" charset="-122"/>
                <a:ea typeface="苏新诗柳楷简" panose="02010600000101010101" charset="-122"/>
              </a:rPr>
              <a:t>游戏二</a:t>
            </a:r>
            <a:r>
              <a:rPr lang="zh-CN" altLang="en-US" sz="2800" dirty="0"/>
              <a:t>    </a:t>
            </a:r>
            <a:r>
              <a:rPr lang="zh-CN" altLang="en-US" sz="2400" b="1" dirty="0">
                <a:ea typeface="苏新诗柳楷简" panose="02010600000101010101" charset="-122"/>
              </a:rPr>
              <a:t>表演猜故事</a:t>
            </a:r>
            <a:endParaRPr lang="en-US" altLang="zh-CN" sz="2400" b="1" dirty="0">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rPr>
              <a:t>地点：</a:t>
            </a:r>
            <a:r>
              <a:rPr lang="zh-CN" altLang="en-US" sz="2000" b="1" dirty="0">
                <a:latin typeface="华光准圆_CNKI" panose="02000500000000000000" pitchFamily="2" charset="-122"/>
                <a:ea typeface="华光准圆_CNKI" panose="02000500000000000000" pitchFamily="2" charset="-122"/>
                <a:sym typeface="+mn-ea"/>
              </a:rPr>
              <a:t>塞万提斯像</a:t>
            </a:r>
            <a:endParaRPr lang="zh-CN" altLang="en-US" sz="2000" b="1" dirty="0">
              <a:latin typeface="华光准圆_CNKI" panose="02000500000000000000" pitchFamily="2" charset="-122"/>
              <a:ea typeface="华光准圆_CNKI" panose="02000500000000000000" pitchFamily="2"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rPr>
              <a:t>我们为大家准备了三个脍炙人口的童话故事，大家抽取序号</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3</a:t>
            </a:r>
            <a:r>
              <a:rPr lang="zh-CN" altLang="en-US" dirty="0">
                <a:latin typeface="华光仿宋二_CNKI" panose="02000500000000000000" pitchFamily="2" charset="-122"/>
                <a:ea typeface="华光仿宋二_CNKI" panose="02000500000000000000" pitchFamily="2" charset="-122"/>
              </a:rPr>
              <a:t>之一，每组的聋人朋友和分社老人需要根据剧本现场简单地排练、表演手语节目，允许根据人数，一人分饰多角；</a:t>
            </a:r>
            <a:endParaRPr lang="en-US" altLang="zh-CN" dirty="0">
              <a:latin typeface="华光仿宋二_CNKI" panose="02000500000000000000" pitchFamily="2" charset="-122"/>
              <a:ea typeface="华光仿宋二_CNKI" panose="02000500000000000000" pitchFamily="2"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rPr>
              <a:t>表演后，分社孩子猜测并大致复述剧本中写的是什么故事；</a:t>
            </a:r>
            <a:endParaRPr lang="en-US" altLang="zh-CN" dirty="0">
              <a:latin typeface="华光仿宋二_CNKI" panose="02000500000000000000" pitchFamily="2" charset="-122"/>
              <a:ea typeface="华光仿宋二_CNKI" panose="02000500000000000000" pitchFamily="2"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rPr>
              <a:t>注意：表演时间必须大于</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分钟，建议不超过</a:t>
            </a:r>
            <a:r>
              <a:rPr lang="en-US" altLang="zh-CN" dirty="0">
                <a:latin typeface="华光仿宋二_CNKI" panose="02000500000000000000" pitchFamily="2" charset="-122"/>
                <a:ea typeface="华光仿宋二_CNKI" panose="02000500000000000000" pitchFamily="2" charset="-122"/>
              </a:rPr>
              <a:t>5</a:t>
            </a:r>
            <a:r>
              <a:rPr lang="zh-CN" altLang="en-US" dirty="0">
                <a:latin typeface="华光仿宋二_CNKI" panose="02000500000000000000" pitchFamily="2" charset="-122"/>
                <a:ea typeface="华光仿宋二_CNKI" panose="02000500000000000000" pitchFamily="2" charset="-122"/>
              </a:rPr>
              <a:t>分钟，并找人录制表演结果；</a:t>
            </a:r>
            <a:endParaRPr lang="en-US" altLang="zh-CN" dirty="0">
              <a:latin typeface="华光仿宋二_CNKI" panose="02000500000000000000" pitchFamily="2" charset="-122"/>
              <a:ea typeface="华光仿宋二_CNKI" panose="02000500000000000000" pitchFamily="2" charset="-122"/>
            </a:endParaRPr>
          </a:p>
          <a:p>
            <a:pPr marL="285750" indent="-285750">
              <a:buFont typeface="Arial" panose="020B0604020202020204" pitchFamily="34" charset="0"/>
              <a:buChar char="•"/>
            </a:pPr>
            <a:r>
              <a:rPr lang="zh-CN" altLang="en-US" b="1" dirty="0">
                <a:latin typeface="华光仿宋二_CNKI" panose="02000500000000000000" pitchFamily="2" charset="-122"/>
                <a:ea typeface="华光仿宋二_CNKI" panose="02000500000000000000" pitchFamily="2" charset="-122"/>
              </a:rPr>
              <a:t>完成一个故事计</a:t>
            </a:r>
            <a:r>
              <a:rPr lang="en-US" altLang="zh-CN" b="1" dirty="0">
                <a:latin typeface="华光仿宋二_CNKI" panose="02000500000000000000" pitchFamily="2" charset="-122"/>
                <a:ea typeface="华光仿宋二_CNKI" panose="02000500000000000000" pitchFamily="2" charset="-122"/>
              </a:rPr>
              <a:t>20</a:t>
            </a:r>
            <a:r>
              <a:rPr lang="zh-CN" altLang="en-US" b="1" dirty="0">
                <a:latin typeface="华光仿宋二_CNKI" panose="02000500000000000000" pitchFamily="2" charset="-122"/>
                <a:ea typeface="华光仿宋二_CNKI" panose="02000500000000000000" pitchFamily="2" charset="-122"/>
              </a:rPr>
              <a:t>分</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p:txBody>
      </p:sp>
      <p:sp>
        <p:nvSpPr>
          <p:cNvPr id="9" name="文本框 8">
            <a:extLst>
              <a:ext uri="{FF2B5EF4-FFF2-40B4-BE49-F238E27FC236}">
                <a16:creationId xmlns:a16="http://schemas.microsoft.com/office/drawing/2014/main" id="{0689B4A1-65AB-616C-461C-64D4419EBF0D}"/>
              </a:ext>
            </a:extLst>
          </p:cNvPr>
          <p:cNvSpPr txBox="1"/>
          <p:nvPr/>
        </p:nvSpPr>
        <p:spPr>
          <a:xfrm>
            <a:off x="4605046" y="218619"/>
            <a:ext cx="4406265" cy="3570208"/>
          </a:xfrm>
          <a:prstGeom prst="rect">
            <a:avLst/>
          </a:prstGeom>
          <a:noFill/>
          <a:ln>
            <a:solidFill>
              <a:schemeClr val="tx1">
                <a:lumMod val="75000"/>
                <a:lumOff val="25000"/>
              </a:schemeClr>
            </a:solidFill>
            <a:prstDash val="dash"/>
          </a:ln>
        </p:spPr>
        <p:txBody>
          <a:bodyPr wrap="square" rtlCol="0">
            <a:spAutoFit/>
          </a:bodyPr>
          <a:lstStyle/>
          <a:p>
            <a:r>
              <a:rPr lang="zh-CN" altLang="en-US" sz="2800" b="1" dirty="0">
                <a:latin typeface="苏新诗柳楷简" panose="02010600000101010101" charset="-122"/>
                <a:ea typeface="苏新诗柳楷简" panose="02010600000101010101" charset="-122"/>
              </a:rPr>
              <a:t>游戏三  手语传声筒</a:t>
            </a:r>
            <a:endParaRPr lang="en-US" altLang="zh-CN" sz="2400" b="1" dirty="0">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rPr>
              <a:t>地点：艺术学院前草坪</a:t>
            </a:r>
            <a:endParaRPr lang="en-US" altLang="zh-CN" sz="2000" b="1" dirty="0">
              <a:latin typeface="华光准圆_CNKI" panose="02000500000000000000" pitchFamily="2" charset="-122"/>
              <a:ea typeface="华光准圆_CNKI" panose="02000500000000000000" pitchFamily="2"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所有同学排成一队，组长在最前，北大骨干站在最后，由组长从题库中挑选句子并作为本轮传递的内容，由组长开始依次向后传递；</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在传递的过程中，未被传到的同学向后站，不能回头看前面传递的内容；</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只可以通过手语进行，不可出声，否则视为错误；</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285750" indent="-285750">
              <a:buFont typeface="Arial" panose="020B0604020202020204" pitchFamily="34" charset="0"/>
              <a:buChar char="•"/>
            </a:pP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完成一句话计</a:t>
            </a:r>
            <a:r>
              <a:rPr lang="en-US" altLang="zh-CN" b="1" dirty="0">
                <a:latin typeface="华光仿宋二_CNKI" panose="02000500000000000000" pitchFamily="2" charset="-122"/>
                <a:ea typeface="华光仿宋二_CNKI" panose="02000500000000000000" pitchFamily="2" charset="-122"/>
                <a:cs typeface="苏新诗柳楷简" panose="02010600000101010101" charset="-122"/>
              </a:rPr>
              <a:t>10</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分</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，但视最终结果离谱程度由组长</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酌情扣分</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最低</a:t>
            </a:r>
            <a:r>
              <a:rPr lang="en-US" altLang="zh-CN" b="1" dirty="0">
                <a:latin typeface="华光仿宋二_CNKI" panose="02000500000000000000" pitchFamily="2" charset="-122"/>
                <a:ea typeface="华光仿宋二_CNKI" panose="02000500000000000000" pitchFamily="2" charset="-122"/>
                <a:cs typeface="苏新诗柳楷简" panose="02010600000101010101" charset="-122"/>
              </a:rPr>
              <a:t>5</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分</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a:t>
            </a:r>
          </a:p>
        </p:txBody>
      </p:sp>
      <p:sp>
        <p:nvSpPr>
          <p:cNvPr id="10" name="文本框 9">
            <a:extLst>
              <a:ext uri="{FF2B5EF4-FFF2-40B4-BE49-F238E27FC236}">
                <a16:creationId xmlns:a16="http://schemas.microsoft.com/office/drawing/2014/main" id="{E7806B6A-D1C4-AF3B-BD23-A4809752B690}"/>
              </a:ext>
            </a:extLst>
          </p:cNvPr>
          <p:cNvSpPr txBox="1"/>
          <p:nvPr/>
        </p:nvSpPr>
        <p:spPr>
          <a:xfrm>
            <a:off x="4605045" y="3868097"/>
            <a:ext cx="4406265" cy="2769989"/>
          </a:xfrm>
          <a:prstGeom prst="rect">
            <a:avLst/>
          </a:prstGeom>
          <a:noFill/>
          <a:ln>
            <a:solidFill>
              <a:schemeClr val="tx1">
                <a:lumMod val="75000"/>
                <a:lumOff val="25000"/>
              </a:schemeClr>
            </a:solidFill>
            <a:prstDash val="dash"/>
          </a:ln>
        </p:spPr>
        <p:txBody>
          <a:bodyPr wrap="square" rtlCol="0">
            <a:spAutoFit/>
          </a:bodyPr>
          <a:lstStyle/>
          <a:p>
            <a:r>
              <a:rPr lang="zh-CN" altLang="en-US" sz="2800" b="1" dirty="0">
                <a:latin typeface="苏新诗柳楷简" panose="02010600000101010101" charset="-122"/>
                <a:ea typeface="苏新诗柳楷简" panose="02010600000101010101" charset="-122"/>
              </a:rPr>
              <a:t>游戏四  两人一球</a:t>
            </a:r>
            <a:endParaRPr lang="en-US" altLang="zh-CN" sz="2400" b="1" dirty="0">
              <a:ea typeface="苏新诗柳楷简" panose="02010600000101010101" charset="-122"/>
            </a:endParaRPr>
          </a:p>
          <a:p>
            <a:r>
              <a:rPr lang="zh-CN" altLang="en-US" sz="2000" b="1" dirty="0">
                <a:latin typeface="华光准圆_CNKI" panose="02000500000000000000" pitchFamily="2" charset="-122"/>
                <a:ea typeface="华光准圆_CNKI" panose="02000500000000000000" pitchFamily="2" charset="-122"/>
              </a:rPr>
              <a:t>地点：湖心亭前（注意安全！！）</a:t>
            </a:r>
            <a:endParaRPr lang="en-US" altLang="zh-CN" sz="2000" b="1" dirty="0">
              <a:latin typeface="华光准圆_CNKI" panose="02000500000000000000" pitchFamily="2" charset="-122"/>
              <a:ea typeface="华光准圆_CNKI" panose="02000500000000000000" pitchFamily="2" charset="-122"/>
            </a:endParaRPr>
          </a:p>
          <a:p>
            <a:pPr marL="342900" indent="-34290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由组长定好相距</a:t>
            </a:r>
            <a:r>
              <a:rPr lang="en-US" altLang="zh-CN" dirty="0">
                <a:latin typeface="华光仿宋二_CNKI" panose="02000500000000000000" pitchFamily="2" charset="-122"/>
                <a:ea typeface="华光仿宋二_CNKI" panose="02000500000000000000" pitchFamily="2" charset="-122"/>
                <a:cs typeface="苏新诗柳楷简" panose="02010600000101010101" charset="-122"/>
              </a:rPr>
              <a:t>8</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步的起、终点；</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342900" indent="-34290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两两一组（尽量联大和北大同学组队）</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342900" indent="-34290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从起点出发，以背靠背夹气球的方式将气球运至终点，若途中气球落地，则可以重新开始，也可以放弃；</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342900" indent="-342900">
              <a:buFont typeface="Arial" panose="020B0604020202020204" pitchFamily="34" charset="0"/>
              <a:buChar char="•"/>
            </a:pP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若气球爆了</a:t>
            </a:r>
            <a:r>
              <a:rPr lang="en-US" altLang="zh-CN" dirty="0">
                <a:latin typeface="华光仿宋二_CNKI" panose="02000500000000000000" pitchFamily="2" charset="-122"/>
                <a:ea typeface="华光仿宋二_CNKI" panose="02000500000000000000" pitchFamily="2" charset="-122"/>
                <a:cs typeface="苏新诗柳楷简" panose="02010600000101010101" charset="-122"/>
              </a:rPr>
              <a:t>BOOM</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！则游戏直接结束；</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a:p>
            <a:pPr marL="342900" indent="-342900">
              <a:buFont typeface="Arial" panose="020B0604020202020204" pitchFamily="34" charset="0"/>
              <a:buChar char="•"/>
            </a:pP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成功完成一组计</a:t>
            </a:r>
            <a:r>
              <a:rPr lang="en-US" altLang="zh-CN" b="1" dirty="0">
                <a:latin typeface="华光仿宋二_CNKI" panose="02000500000000000000" pitchFamily="2" charset="-122"/>
                <a:ea typeface="华光仿宋二_CNKI" panose="02000500000000000000" pitchFamily="2" charset="-122"/>
                <a:cs typeface="苏新诗柳楷简" panose="02010600000101010101" charset="-122"/>
              </a:rPr>
              <a:t>10</a:t>
            </a:r>
            <a:r>
              <a:rPr lang="zh-CN" altLang="en-US" b="1" dirty="0">
                <a:latin typeface="华光仿宋二_CNKI" panose="02000500000000000000" pitchFamily="2" charset="-122"/>
                <a:ea typeface="华光仿宋二_CNKI" panose="02000500000000000000" pitchFamily="2" charset="-122"/>
                <a:cs typeface="苏新诗柳楷简" panose="02010600000101010101" charset="-122"/>
              </a:rPr>
              <a:t>分</a:t>
            </a:r>
            <a:r>
              <a:rPr lang="zh-CN" altLang="en-US" dirty="0">
                <a:latin typeface="华光仿宋二_CNKI" panose="02000500000000000000" pitchFamily="2" charset="-122"/>
                <a:ea typeface="华光仿宋二_CNKI" panose="02000500000000000000" pitchFamily="2" charset="-122"/>
                <a:cs typeface="苏新诗柳楷简" panose="02010600000101010101" charset="-122"/>
              </a:rPr>
              <a:t>。</a:t>
            </a:r>
            <a:endParaRPr lang="en-US" altLang="zh-CN" dirty="0">
              <a:latin typeface="华光仿宋二_CNKI" panose="02000500000000000000" pitchFamily="2" charset="-122"/>
              <a:ea typeface="华光仿宋二_CNKI" panose="02000500000000000000" pitchFamily="2" charset="-122"/>
              <a:cs typeface="苏新诗柳楷简" panose="02010600000101010101"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1090</Words>
  <Application>Microsoft Office PowerPoint</Application>
  <PresentationFormat>全屏显示(4:3)</PresentationFormat>
  <Paragraphs>81</Paragraphs>
  <Slides>4</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华光仿宋二_CNKI</vt:lpstr>
      <vt:lpstr>华光中雅_CNKI</vt:lpstr>
      <vt:lpstr>华光准圆_CNKI</vt:lpstr>
      <vt:lpstr>翩翩体-简</vt:lpstr>
      <vt:lpstr>苏新诗柳楷简</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dc:creator>
  <cp:lastModifiedBy>仇 傲</cp:lastModifiedBy>
  <cp:revision>49</cp:revision>
  <cp:lastPrinted>2023-03-25T16:00:08Z</cp:lastPrinted>
  <dcterms:created xsi:type="dcterms:W3CDTF">2018-10-24T03:18:00Z</dcterms:created>
  <dcterms:modified xsi:type="dcterms:W3CDTF">2023-03-25T17:31:01Z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